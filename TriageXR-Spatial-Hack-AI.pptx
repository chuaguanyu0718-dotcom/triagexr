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9c3d9bbb886441e" /><Relationship Type="http://schemas.openxmlformats.org/officeDocument/2006/relationships/extended-properties" Target="/docProps/app.xml" Id="Refbf445c62a84e58" /><Relationship Type="http://schemas.openxmlformats.org/officeDocument/2006/relationships/officeDocument" Target="/ppt/presentation.xml" Id="R883d38ce6ddf4a0c"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7e74769d17734a1d"/>
  </p:sldMasterIdLst>
  <p:notesMasterIdLst>
    <p:notesMasterId xmlns:r="http://schemas.openxmlformats.org/officeDocument/2006/relationships" r:id="R27dcd2709be74be7"/>
  </p:notesMasterIdLst>
  <p:sldIdLst>
    <p:sldId xmlns:r="http://schemas.openxmlformats.org/officeDocument/2006/relationships" id="256" r:id="R3034c359e5814f48"/>
    <p:sldId xmlns:r="http://schemas.openxmlformats.org/officeDocument/2006/relationships" id="257" r:id="R54775f7c3b5a4cd1"/>
    <p:sldId xmlns:r="http://schemas.openxmlformats.org/officeDocument/2006/relationships" id="258" r:id="Rb29339f3d4e74f12"/>
    <p:sldId xmlns:r="http://schemas.openxmlformats.org/officeDocument/2006/relationships" id="259" r:id="Re3bf6d07756d4f20"/>
    <p:sldId xmlns:r="http://schemas.openxmlformats.org/officeDocument/2006/relationships" id="260" r:id="Rb718e948f03b4503"/>
    <p:sldId xmlns:r="http://schemas.openxmlformats.org/officeDocument/2006/relationships" id="261" r:id="Rda5215e120fc4293"/>
    <p:sldId xmlns:r="http://schemas.openxmlformats.org/officeDocument/2006/relationships" id="262" r:id="R22926b7fca134b52"/>
    <p:sldId xmlns:r="http://schemas.openxmlformats.org/officeDocument/2006/relationships" id="263" r:id="R045b8925eada4d58"/>
    <p:sldId xmlns:r="http://schemas.openxmlformats.org/officeDocument/2006/relationships" id="264" r:id="Rd0162e2c10bf420f"/>
    <p:sldId xmlns:r="http://schemas.openxmlformats.org/officeDocument/2006/relationships" id="265" r:id="Rba672461775e4ae9"/>
  </p:sldIdLst>
  <p:sldSz cx="12192000" cy="6858000"/>
  <p:notesSz cx="6858000" cy="9144000"/>
  <p:embeddedFontLst>
    <p:embeddedFont>
      <p:font typeface="Inter"/>
      <p:regular xmlns:r="http://schemas.openxmlformats.org/officeDocument/2006/relationships" r:id="Rea275ad44089434b"/>
      <p:bold xmlns:r="http://schemas.openxmlformats.org/officeDocument/2006/relationships" r:id="R9fb33d8783b541f3"/>
    </p:embeddedFont>
    <p:embeddedFont>
      <p:font typeface="Inter Medium"/>
      <p:regular xmlns:r="http://schemas.openxmlformats.org/officeDocument/2006/relationships" r:id="R2a5394f365c144b0"/>
    </p:embeddedFont>
    <p:embeddedFont>
      <p:font typeface="Inter SemiBold"/>
      <p:regular xmlns:r="http://schemas.openxmlformats.org/officeDocument/2006/relationships" r:id="Rffa228aec05443ed"/>
      <p:bold xmlns:r="http://schemas.openxmlformats.org/officeDocument/2006/relationships" r:id="R93d201b0dd044f13"/>
    </p:embeddedFont>
    <p:embeddedFont>
      <p:font typeface="OpenAI Sans"/>
      <p:regular xmlns:r="http://schemas.openxmlformats.org/officeDocument/2006/relationships" r:id="Rc8e56f9b44a54545"/>
      <p:bold xmlns:r="http://schemas.openxmlformats.org/officeDocument/2006/relationships" r:id="R2e53aef641624095"/>
      <p:italic xmlns:r="http://schemas.openxmlformats.org/officeDocument/2006/relationships" r:id="R72b4a93e9503452e"/>
      <p:boldItalic xmlns:r="http://schemas.openxmlformats.org/officeDocument/2006/relationships" r:id="Rb707f8f7a49f4a31"/>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3bc2d75bcdc54ace" /><Relationship Type="http://schemas.openxmlformats.org/officeDocument/2006/relationships/slideMaster" Target="/ppt/slideMasters/slideMaster1.xml" Id="R7e74769d17734a1d" /><Relationship Type="http://schemas.openxmlformats.org/officeDocument/2006/relationships/notesMaster" Target="/ppt/notesMasters/notesMaster1.xml" Id="R27dcd2709be74be7" /><Relationship Type="http://schemas.openxmlformats.org/officeDocument/2006/relationships/presProps" Target="/ppt/presProps.xml" Id="Re05cdc9157854a89" /><Relationship Type="http://schemas.openxmlformats.org/officeDocument/2006/relationships/viewProps" Target="/ppt/viewProps.xml" Id="Rf441ce5b5b174507" /><Relationship Type="http://schemas.openxmlformats.org/officeDocument/2006/relationships/tableStyles" Target="/ppt/tableStyles.xml" Id="R9140779b45234e94" /><Relationship Type="http://schemas.openxmlformats.org/officeDocument/2006/relationships/font" Target="/ppt/fonts/font.dat" Id="Rea275ad44089434b" /><Relationship Type="http://schemas.openxmlformats.org/officeDocument/2006/relationships/font" Target="/ppt/fonts/font2.dat" Id="R9fb33d8783b541f3" /><Relationship Type="http://schemas.openxmlformats.org/officeDocument/2006/relationships/font" Target="/ppt/fonts/font3.dat" Id="R2a5394f365c144b0" /><Relationship Type="http://schemas.openxmlformats.org/officeDocument/2006/relationships/font" Target="/ppt/fonts/font4.dat" Id="Rffa228aec05443ed" /><Relationship Type="http://schemas.openxmlformats.org/officeDocument/2006/relationships/font" Target="/ppt/fonts/font5.dat" Id="R93d201b0dd044f13" /><Relationship Type="http://schemas.openxmlformats.org/officeDocument/2006/relationships/font" Target="/ppt/fonts/font6.dat" Id="Rc8e56f9b44a54545" /><Relationship Type="http://schemas.openxmlformats.org/officeDocument/2006/relationships/font" Target="/ppt/fonts/font7.dat" Id="R2e53aef641624095" /><Relationship Type="http://schemas.openxmlformats.org/officeDocument/2006/relationships/font" Target="/ppt/fonts/font8.dat" Id="R72b4a93e9503452e" /><Relationship Type="http://schemas.openxmlformats.org/officeDocument/2006/relationships/font" Target="/ppt/fonts/font9.dat" Id="Rb707f8f7a49f4a31" /><Relationship Type="http://schemas.openxmlformats.org/officeDocument/2006/relationships/slide" Target="/ppt/slides/slide1.xml" Id="R3034c359e5814f48" /><Relationship Type="http://schemas.openxmlformats.org/officeDocument/2006/relationships/slide" Target="/ppt/slides/slide2.xml" Id="R54775f7c3b5a4cd1" /><Relationship Type="http://schemas.openxmlformats.org/officeDocument/2006/relationships/slide" Target="/ppt/slides/slide3.xml" Id="Rb29339f3d4e74f12" /><Relationship Type="http://schemas.openxmlformats.org/officeDocument/2006/relationships/slide" Target="/ppt/slides/slide4.xml" Id="Re3bf6d07756d4f20" /><Relationship Type="http://schemas.openxmlformats.org/officeDocument/2006/relationships/slide" Target="/ppt/slides/slide5.xml" Id="Rb718e948f03b4503" /><Relationship Type="http://schemas.openxmlformats.org/officeDocument/2006/relationships/slide" Target="/ppt/slides/slide6.xml" Id="Rda5215e120fc4293" /><Relationship Type="http://schemas.openxmlformats.org/officeDocument/2006/relationships/slide" Target="/ppt/slides/slide7.xml" Id="R22926b7fca134b52" /><Relationship Type="http://schemas.openxmlformats.org/officeDocument/2006/relationships/slide" Target="/ppt/slides/slide8.xml" Id="R045b8925eada4d58" /><Relationship Type="http://schemas.openxmlformats.org/officeDocument/2006/relationships/slide" Target="/ppt/slides/slide9.xml" Id="Rd0162e2c10bf420f" /><Relationship Type="http://schemas.openxmlformats.org/officeDocument/2006/relationships/slide" Target="/ppt/slides/slide10.xml" Id="Rba672461775e4ae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0f0a5953de149f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dk1" tx1="lt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Inter">
      <a:majorFont>
        <a:latin typeface="Inter"/>
        <a:ea typeface=""/>
        <a:cs typeface=""/>
      </a:majorFont>
      <a:minorFont>
        <a:latin typeface="Inter"/>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67102e379a941aa" /><Relationship Type="http://schemas.openxmlformats.org/officeDocument/2006/relationships/notesMaster" Target="/ppt/notesMasters/notesMaster1.xml" Id="R1ca885236d5f4bfe" /></Relationships>
</file>

<file path=ppt/notesSlides/_rels/notesSlide2.xml.rels>&#65279;<?xml version="1.0" encoding="utf-8"?><Relationships xmlns="http://schemas.openxmlformats.org/package/2006/relationships"><Relationship Type="http://schemas.openxmlformats.org/officeDocument/2006/relationships/slide" Target="/ppt/slides/slide2.xml" Id="R61437a9290d245e4" /><Relationship Type="http://schemas.openxmlformats.org/officeDocument/2006/relationships/notesMaster" Target="/ppt/notesMasters/notesMaster1.xml" Id="Ra69ee0474dc84aae" /></Relationships>
</file>

<file path=ppt/notesSlides/_rels/notesSlide3.xml.rels>&#65279;<?xml version="1.0" encoding="utf-8"?><Relationships xmlns="http://schemas.openxmlformats.org/package/2006/relationships"><Relationship Type="http://schemas.openxmlformats.org/officeDocument/2006/relationships/slide" Target="/ppt/slides/slide3.xml" Id="Rbcf2e6c40d5c43da" /><Relationship Type="http://schemas.openxmlformats.org/officeDocument/2006/relationships/notesMaster" Target="/ppt/notesMasters/notesMaster1.xml" Id="R3334d47e9e6b43e0" /></Relationships>
</file>

<file path=ppt/notesSlides/_rels/notesSlide4.xml.rels>&#65279;<?xml version="1.0" encoding="utf-8"?><Relationships xmlns="http://schemas.openxmlformats.org/package/2006/relationships"><Relationship Type="http://schemas.openxmlformats.org/officeDocument/2006/relationships/slide" Target="/ppt/slides/slide4.xml" Id="Rb24fe0ee722a4202" /><Relationship Type="http://schemas.openxmlformats.org/officeDocument/2006/relationships/notesMaster" Target="/ppt/notesMasters/notesMaster1.xml" Id="Rda9501c683854547" /></Relationships>
</file>

<file path=ppt/notesSlides/_rels/notesSlide5.xml.rels>&#65279;<?xml version="1.0" encoding="utf-8"?><Relationships xmlns="http://schemas.openxmlformats.org/package/2006/relationships"><Relationship Type="http://schemas.openxmlformats.org/officeDocument/2006/relationships/slide" Target="/ppt/slides/slide5.xml" Id="Rac897d9adabf43ef" /><Relationship Type="http://schemas.openxmlformats.org/officeDocument/2006/relationships/notesMaster" Target="/ppt/notesMasters/notesMaster1.xml" Id="R4fcffa244d1e4ccf" /></Relationships>
</file>

<file path=ppt/notesSlides/_rels/notesSlide6.xml.rels>&#65279;<?xml version="1.0" encoding="utf-8"?><Relationships xmlns="http://schemas.openxmlformats.org/package/2006/relationships"><Relationship Type="http://schemas.openxmlformats.org/officeDocument/2006/relationships/slide" Target="/ppt/slides/slide6.xml" Id="Rd8a44ee801714f5f" /><Relationship Type="http://schemas.openxmlformats.org/officeDocument/2006/relationships/notesMaster" Target="/ppt/notesMasters/notesMaster1.xml" Id="R9f0c8a690b7d45a0" /></Relationships>
</file>

<file path=ppt/notesSlides/_rels/notesSlide7.xml.rels>&#65279;<?xml version="1.0" encoding="utf-8"?><Relationships xmlns="http://schemas.openxmlformats.org/package/2006/relationships"><Relationship Type="http://schemas.openxmlformats.org/officeDocument/2006/relationships/slide" Target="/ppt/slides/slide7.xml" Id="R166689ecef0249ff" /><Relationship Type="http://schemas.openxmlformats.org/officeDocument/2006/relationships/notesMaster" Target="/ppt/notesMasters/notesMaster1.xml" Id="R786cace90c9c4c38" /></Relationships>
</file>

<file path=ppt/notesSlides/_rels/notesSlide8.xml.rels>&#65279;<?xml version="1.0" encoding="utf-8"?><Relationships xmlns="http://schemas.openxmlformats.org/package/2006/relationships"><Relationship Type="http://schemas.openxmlformats.org/officeDocument/2006/relationships/slide" Target="/ppt/slides/slide8.xml" Id="Rfa47c1688e70407d" /><Relationship Type="http://schemas.openxmlformats.org/officeDocument/2006/relationships/notesMaster" Target="/ppt/notesMasters/notesMaster1.xml" Id="R36b6fd31c46945b1" /></Relationships>
</file>

<file path=ppt/notesSlides/_rels/notesSlide9.xml.rels>&#65279;<?xml version="1.0" encoding="utf-8"?><Relationships xmlns="http://schemas.openxmlformats.org/package/2006/relationships"><Relationship Type="http://schemas.openxmlformats.org/officeDocument/2006/relationships/slide" Target="/ppt/slides/slide9.xml" Id="Rb9d75a5b14b94a09" /><Relationship Type="http://schemas.openxmlformats.org/officeDocument/2006/relationships/notesMaster" Target="/ppt/notesMasters/notesMaster1.xml" Id="R7856c4facb334c3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722d1f790234215" /><Relationship Type="http://schemas.openxmlformats.org/officeDocument/2006/relationships/notesMaster" Target="/ppt/notesMasters/notesMaster1.xml" Id="R610230b9bea1428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 Weishuo, Guan, and Shreeraj. Brief 8: How might we train first responders for a mass casualty incident with spatial computing and AI?</a:t>
            </a:r>
            <a:endParaRPr/>
          </a:p>
          <a:p xmlns:a="http://schemas.openxmlformats.org/drawingml/2006/main">
            <a:r>
              <a:t/>
            </a:r>
            <a:endParaRPr/>
          </a:p>
          <a:p xmlns:a="http://schemas.openxmlformats.org/drawingml/2006/main">
            <a:r>
              <a:t>[Sources]</a:t>
            </a:r>
            <a:endParaRPr/>
          </a:p>
          <a:p xmlns:a="http://schemas.openxmlformats.org/drawingml/2006/main">
            <a:r>
              <a:t>- Local project source: /Users/shreeraj/projects/triagexr/TriageXR/README.md and Swift implementation files.</a:t>
            </a:r>
            <a:endParaRPr/>
          </a:p>
          <a:p xmlns:a="http://schemas.openxmlformats.org/drawingml/2006/main">
            <a:r>
              <a:t>- User-supplied images are identified on the relevant slide.</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photograph was supplied by the user: /var/folders/p_/p663ljhn16l7xm3y7c77vgvm0000gp/T/TemporaryItems/NSIRD_screencaptureui_c4iEZ1/Screenshot 2026-08-10 at 10.35.18 AM.png.</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Local project source: /Users/shreeraj/projects/triagexr/TriageXR/README.md and Swift implementation files.</a:t>
            </a:r>
            <a:endParaRPr/>
          </a:p>
          <a:p xmlns:a="http://schemas.openxmlformats.org/drawingml/2006/main">
            <a:pPr marL="0" lvl="0" indent="0" algn="l">
              <a:spcBef>
                <a:spcPts val="0"/>
              </a:spcBef>
              <a:spcAft>
                <a:spcPts val="0"/>
              </a:spcAft>
              <a:buNone/>
            </a:pPr>
            <a:r>
              <a:t>- User-supplied images are identified on the relevant slide.</a:t>
            </a:r>
            <a:endParaRPr/>
          </a:p>
          <a:p xmlns:a="http://schemas.openxmlformats.org/drawingml/2006/main">
            <a:pPr marL="0" lvl="0" indent="0" algn="l">
              <a:spcBef>
                <a:spcPts val="0"/>
              </a:spcBef>
              <a:spcAft>
                <a:spcPts val="0"/>
              </a:spcAft>
              <a:buNone/>
            </a:pPr>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TriageXR is a visionOS prototype for Apple Vision Pro. It trains scene awareness, prioritisation, reassessment, and communication—not physical medical procedures.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Local project source: /Users/shreeraj/projects/triagexr/TriageXR/README.md and Swift implementation files.</a:t>
            </a:r>
            <a:endParaRPr/>
          </a:p>
          <a:p xmlns:a="http://schemas.openxmlformats.org/drawingml/2006/main">
            <a:pPr marL="0" lvl="0" indent="0" algn="l">
              <a:spcBef>
                <a:spcPts val="0"/>
              </a:spcBef>
              <a:spcAft>
                <a:spcPts val="0"/>
              </a:spcAft>
              <a:buNone/>
            </a:pPr>
            <a:r>
              <a:t>- User-supplied images are identified on the relevant slide.</a:t>
            </a:r>
            <a:endParaRPr/>
          </a:p>
          <a:p xmlns:a="http://schemas.openxmlformats.org/drawingml/2006/main">
            <a:pPr marL="0" lvl="0" indent="0" algn="l">
              <a:spcBef>
                <a:spcPts val="0"/>
              </a:spcBef>
              <a:spcAft>
                <a:spcPts val="0"/>
              </a:spcAft>
              <a:buNone/>
            </a:pPr>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flow is implemented across the briefing window, mixed immersive space, spatial verification coordinator, incident state engine, and after-action review.</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Local project source: /Users/shreeraj/projects/triagexr/TriageXR/README.md and Swift implementation files.</a:t>
            </a:r>
            <a:endParaRPr/>
          </a:p>
          <a:p xmlns:a="http://schemas.openxmlformats.org/drawingml/2006/main">
            <a:pPr marL="0" lvl="0" indent="0" algn="l">
              <a:spcBef>
                <a:spcPts val="0"/>
              </a:spcBef>
              <a:spcAft>
                <a:spcPts val="0"/>
              </a:spcAft>
              <a:buNone/>
            </a:pPr>
            <a:r>
              <a:t>- User-supplied images are identified on the relevant slide.</a:t>
            </a:r>
            <a:endParaRPr/>
          </a:p>
          <a:p xmlns:a="http://schemas.openxmlformats.org/drawingml/2006/main">
            <a:pPr marL="0" lvl="0" indent="0" algn="l">
              <a:spcBef>
                <a:spcPts val="0"/>
              </a:spcBef>
              <a:spcAft>
                <a:spcPts val="0"/>
              </a:spcAft>
              <a:buNone/>
            </a:pPr>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default Demo 8x pace compresses the clinically meaningful deterioration clock for a stage-ready demonstration while keeping the simulated CPR hold duration in real time.</a:t>
            </a:r>
          </a:p>
          <a:p xmlns:a="http://schemas.openxmlformats.org/drawingml/2006/main">
            <a:r>
              <a:t/>
            </a:r>
          </a:p>
          <a:p xmlns:a="http://schemas.openxmlformats.org/drawingml/2006/main">
            <a:r>
              <a:t>[Sources]</a:t>
            </a:r>
          </a:p>
          <a:p xmlns:a="http://schemas.openxmlformats.org/drawingml/2006/main">
            <a:r>
              <a:t>- Local project source: /Users/shreeraj/projects/triagexr/TriageXR/README.md and Swift implementation files.</a:t>
            </a:r>
          </a:p>
          <a:p xmlns:a="http://schemas.openxmlformats.org/drawingml/2006/main">
            <a:r>
              <a:t>- User-supplied images are identified on the relevant slide.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adult triage chart was supplied by the user: /var/folders/p_/p663ljhn16l7xm3y7c77vgvm0000gp/T/TemporaryItems/NSIRD_screencaptureui_zi9gR1/Screenshot 2026-08-10 at 10.35.30 AM.png. The prototype encodes deterministic assessment, priority, deterioration, and reassessment rules.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Local project source: /Users/shreeraj/projects/triagexr/TriageXR/README.md and Swift implementation files.</a:t>
            </a:r>
            <a:endParaRPr/>
          </a:p>
          <a:p xmlns:a="http://schemas.openxmlformats.org/drawingml/2006/main">
            <a:pPr marL="0" lvl="0" indent="0" algn="l">
              <a:spcBef>
                <a:spcPts val="0"/>
              </a:spcBef>
              <a:spcAft>
                <a:spcPts val="0"/>
              </a:spcAft>
              <a:buNone/>
            </a:pPr>
            <a:r>
              <a:t>- User-supplied images are identified on the relevant slide.</a:t>
            </a:r>
            <a:endParaRPr/>
          </a:p>
          <a:p xmlns:a="http://schemas.openxmlformats.org/drawingml/2006/main">
            <a:pPr marL="0" lvl="0" indent="0" algn="l">
              <a:spcBef>
                <a:spcPts val="0"/>
              </a:spcBef>
              <a:spcAft>
                <a:spcPts val="0"/>
              </a:spcAft>
              <a:buNone/>
            </a:pPr>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prototype also supports a simulator fallback for repeatable demos and a deterministic local coaching fallback when the secure AI relay is unavailable.</a:t>
            </a:r>
          </a:p>
          <a:p xmlns:a="http://schemas.openxmlformats.org/drawingml/2006/main">
            <a:r>
              <a:t/>
            </a:r>
          </a:p>
          <a:p xmlns:a="http://schemas.openxmlformats.org/drawingml/2006/main">
            <a:r>
              <a:t>[Sources]</a:t>
            </a:r>
          </a:p>
          <a:p xmlns:a="http://schemas.openxmlformats.org/drawingml/2006/main">
            <a:r>
              <a:t>- Local project source: /Users/shreeraj/projects/triagexr/TriageXR/README.md and Swift implementation files.</a:t>
            </a:r>
          </a:p>
          <a:p xmlns:a="http://schemas.openxmlformats.org/drawingml/2006/main">
            <a:r>
              <a:t>- User-supplied images are identified on the relevant slide.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five score domains are Safety, Assessment, Triage, Treatment, and Communication. The local Swift package includes deterministic tests for spatial verification, timing, roles, transport policy, collaboration encoding, and AI citation validation.</a:t>
            </a:r>
          </a:p>
          <a:p xmlns:a="http://schemas.openxmlformats.org/drawingml/2006/main">
            <a:r>
              <a:t/>
            </a:r>
          </a:p>
          <a:p xmlns:a="http://schemas.openxmlformats.org/drawingml/2006/main">
            <a:r>
              <a:t>[Sources]</a:t>
            </a:r>
          </a:p>
          <a:p xmlns:a="http://schemas.openxmlformats.org/drawingml/2006/main">
            <a:r>
              <a:t>- Local project source: /Users/shreeraj/projects/triagexr/TriageXR/README.md and Swift implementation files.</a:t>
            </a:r>
          </a:p>
          <a:p xmlns:a="http://schemas.openxmlformats.org/drawingml/2006/main">
            <a:r>
              <a:t>- User-supplied images are identified on the relevant slide.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Roadmap items are proposed next steps, not completed capabilities. Validation should include clinical governance, accessibility, privacy, facilitator workflow, and measurable transfer to live exercises.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a:t>
            </a:r>
            <a:endParaRPr/>
          </a:p>
          <a:p xmlns:a="http://schemas.openxmlformats.org/drawingml/2006/main">
            <a:pPr marL="0" lvl="0" indent="0" algn="l">
              <a:spcBef>
                <a:spcPts val="0"/>
              </a:spcBef>
              <a:spcAft>
                <a:spcPts val="0"/>
              </a:spcAft>
              <a:buNone/>
            </a:pPr>
            <a:r>
              <a:t>- Local project source: /Users/shreeraj/projects/triagexr/TriageXR/README.md and Swift implementation files.</a:t>
            </a:r>
            <a:endParaRPr/>
          </a:p>
          <a:p xmlns:a="http://schemas.openxmlformats.org/drawingml/2006/main">
            <a:pPr marL="0" lvl="0" indent="0" algn="l">
              <a:spcBef>
                <a:spcPts val="0"/>
              </a:spcBef>
              <a:spcAft>
                <a:spcPts val="0"/>
              </a:spcAft>
              <a:buNone/>
            </a:pPr>
            <a:r>
              <a:t>- User-supplied images are identified on the relevant slide.</a:t>
            </a:r>
            <a:endParaRPr/>
          </a:p>
          <a:p xmlns:a="http://schemas.openxmlformats.org/drawingml/2006/main">
            <a:pPr marL="0" lvl="0" indent="0" algn="l">
              <a:spcBef>
                <a:spcPts val="0"/>
              </a:spcBef>
              <a:spcAft>
                <a:spcPts val="0"/>
              </a:spcAft>
              <a:buNone/>
            </a:pPr>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Closing ask: partner with first-responder instructors to validate the scenario, triage logic, debrief usefulness, and operational fit.</a:t>
            </a:r>
            <a:endParaRPr/>
          </a:p>
          <a:p xmlns:a="http://schemas.openxmlformats.org/drawingml/2006/main">
            <a:r>
              <a:t/>
            </a:r>
            <a:endParaRPr/>
          </a:p>
          <a:p xmlns:a="http://schemas.openxmlformats.org/drawingml/2006/main">
            <a:r>
              <a:t>[Sources]</a:t>
            </a:r>
            <a:endParaRPr/>
          </a:p>
          <a:p xmlns:a="http://schemas.openxmlformats.org/drawingml/2006/main">
            <a:r>
              <a:t>- Local project source: /Users/shreeraj/projects/triagexr/TriageXR/README.md and Swift implementation files.</a:t>
            </a:r>
            <a:endParaRPr/>
          </a:p>
          <a:p xmlns:a="http://schemas.openxmlformats.org/drawingml/2006/main">
            <a:r>
              <a:t>- User-supplied images are identified on the relevant slide.</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21991bb6e5844f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be674389a3846b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f72fc96672d49d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c4e89924d8b472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0a940d93a574d8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a0ea00a88ea4af0"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50fdcb4ec68f4c77"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c1c523a96c6d4c5a"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7d0e513513149a3" /><Relationship Type="http://schemas.openxmlformats.org/officeDocument/2006/relationships/slideLayout" Target="/ppt/slideLayouts/slideLayout1.xml" Id="Rb58c656b853c4cad" /><Relationship Type="http://schemas.openxmlformats.org/officeDocument/2006/relationships/slideLayout" Target="/ppt/slideLayouts/slideLayout2.xml" Id="Ra50201337df14b35" /><Relationship Type="http://schemas.openxmlformats.org/officeDocument/2006/relationships/slideLayout" Target="/ppt/slideLayouts/slideLayout3.xml" Id="R02c89317a9214369" /><Relationship Type="http://schemas.openxmlformats.org/officeDocument/2006/relationships/slideLayout" Target="/ppt/slideLayouts/slideLayout4.xml" Id="Ra3940d75dca94639" /><Relationship Type="http://schemas.openxmlformats.org/officeDocument/2006/relationships/slideLayout" Target="/ppt/slideLayouts/slideLayout5.xml" Id="Rbe1ff83894ba416c" /><Relationship Type="http://schemas.openxmlformats.org/officeDocument/2006/relationships/slideLayout" Target="/ppt/slideLayouts/slideLayout6.xml" Id="R3df393a02a4b410c" /><Relationship Type="http://schemas.openxmlformats.org/officeDocument/2006/relationships/slideLayout" Target="/ppt/slideLayouts/slideLayout7.xml" Id="Rec2ce67e2e3f473e" /><Relationship Type="http://schemas.openxmlformats.org/officeDocument/2006/relationships/slideLayout" Target="/ppt/slideLayouts/slideLayout8.xml" Id="R5d711161fd174bc7" /></Relationships>
</file>

<file path=ppt/slideMasters/slideMaster1.xml><?xml version="1.0" encoding="utf-8"?>
<p:sldMaster xmlns:p="http://schemas.openxmlformats.org/presentationml/2006/main">
  <p:cSld>
    <p:bg>
      <p:bgPr>
        <a:solidFill xmlns:a="http://schemas.openxmlformats.org/drawingml/2006/main">
          <a:srgbClr val="002615"/>
        </a:solidFill>
      </p:bgPr>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clrMap bg1="dk1" tx1="lt1" bg2="dk2" tx2="lt2" accent1="accent1" accent2="accent2" accent3="accent3" accent4="accent4" accent5="accent5" accent6="accent6" hlink="hlink" folHlink="folHlink"/>
  <p:sldLayoutIdLst>
    <p:sldLayoutId xmlns:r="http://schemas.openxmlformats.org/officeDocument/2006/relationships" id="2147483649" r:id="Rb58c656b853c4cad"/>
    <p:sldLayoutId xmlns:r="http://schemas.openxmlformats.org/officeDocument/2006/relationships" id="2147483650" r:id="Ra50201337df14b35"/>
    <p:sldLayoutId xmlns:r="http://schemas.openxmlformats.org/officeDocument/2006/relationships" id="2147483651" r:id="R02c89317a9214369"/>
    <p:sldLayoutId xmlns:r="http://schemas.openxmlformats.org/officeDocument/2006/relationships" id="2147483652" r:id="Ra3940d75dca94639"/>
    <p:sldLayoutId xmlns:r="http://schemas.openxmlformats.org/officeDocument/2006/relationships" id="2147483653" r:id="Rbe1ff83894ba416c"/>
    <p:sldLayoutId xmlns:r="http://schemas.openxmlformats.org/officeDocument/2006/relationships" id="2147483654" r:id="R3df393a02a4b410c"/>
    <p:sldLayoutId xmlns:r="http://schemas.openxmlformats.org/officeDocument/2006/relationships" id="2147483655" r:id="Rec2ce67e2e3f473e"/>
    <p:sldLayoutId xmlns:r="http://schemas.openxmlformats.org/officeDocument/2006/relationships" id="2147483656" r:id="R5d711161fd174bc7"/>
  </p:sldLayoutIdLst>
  <p:hf hdr="0" dt="0"/>
  <p:txStyles>
    <p:titleStyle>
      <a:lvl1pPr xmlns:a="http://schemas.openxmlformats.org/drawingml/2006/main" algn="l" defTabSz="914400">
        <a:lnSpc>
          <a:spcPct val="90000"/>
        </a:lnSpc>
        <a:spcBef>
          <a:spcPct val="0"/>
        </a:spcBef>
        <a:buNone/>
        <a:defRPr sz="2900" b="0" i="0" kern="1200">
          <a:solidFill>
            <a:schemeClr val="tx1"/>
          </a:solidFill>
          <a:latin typeface="Inter Medium"/>
          <a:ea typeface="Inter Medium"/>
          <a:cs typeface="Inter Medium"/>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p15:clr>
            <a:srgbClr xmlns:a="http://schemas.openxmlformats.org/drawingml/2006/main" val="F26B43"/>
          </p15:clr>
        </p15:guide>
        <p15:guide id="2" pos="7680">
          <p15:clr>
            <a:srgbClr xmlns:a="http://schemas.openxmlformats.org/drawingml/2006/main" val="F26B43"/>
          </p15:clr>
        </p15:guide>
        <p15:guide id="3" pos="248">
          <p15:clr>
            <a:srgbClr xmlns:a="http://schemas.openxmlformats.org/drawingml/2006/main" val="F26B43"/>
          </p15:clr>
        </p15:guide>
        <p15:guide id="4" pos="1264">
          <p15:clr>
            <a:srgbClr xmlns:a="http://schemas.openxmlformats.org/drawingml/2006/main" val="F26B43"/>
          </p15:clr>
        </p15:guide>
        <p15:guide id="5" pos="1480">
          <p15:clr>
            <a:srgbClr xmlns:a="http://schemas.openxmlformats.org/drawingml/2006/main" val="F26B43"/>
          </p15:clr>
        </p15:guide>
        <p15:guide id="6" pos="2496">
          <p15:clr>
            <a:srgbClr xmlns:a="http://schemas.openxmlformats.org/drawingml/2006/main" val="F26B43"/>
          </p15:clr>
        </p15:guide>
        <p15:guide id="7" pos="2712">
          <p15:clr>
            <a:srgbClr xmlns:a="http://schemas.openxmlformats.org/drawingml/2006/main" val="F26B43"/>
          </p15:clr>
        </p15:guide>
        <p15:guide id="8" pos="3736">
          <p15:clr>
            <a:srgbClr xmlns:a="http://schemas.openxmlformats.org/drawingml/2006/main" val="F26B43"/>
          </p15:clr>
        </p15:guide>
        <p15:guide id="9" pos="3944">
          <p15:clr>
            <a:srgbClr xmlns:a="http://schemas.openxmlformats.org/drawingml/2006/main" val="F26B43"/>
          </p15:clr>
        </p15:guide>
        <p15:guide id="10" pos="4968">
          <p15:clr>
            <a:srgbClr xmlns:a="http://schemas.openxmlformats.org/drawingml/2006/main" val="F26B43"/>
          </p15:clr>
        </p15:guide>
        <p15:guide id="11" pos="5184">
          <p15:clr>
            <a:srgbClr xmlns:a="http://schemas.openxmlformats.org/drawingml/2006/main" val="F26B43"/>
          </p15:clr>
        </p15:guide>
        <p15:guide id="12" pos="6200">
          <p15:clr>
            <a:srgbClr xmlns:a="http://schemas.openxmlformats.org/drawingml/2006/main" val="F26B43"/>
          </p15:clr>
        </p15:guide>
        <p15:guide id="13" pos="6416">
          <p15:clr>
            <a:srgbClr xmlns:a="http://schemas.openxmlformats.org/drawingml/2006/main" val="F26B43"/>
          </p15:clr>
        </p15:guide>
        <p15:guide id="14" pos="7432">
          <p15:clr>
            <a:srgbClr xmlns:a="http://schemas.openxmlformats.org/drawingml/2006/main" val="F26B43"/>
          </p15:clr>
        </p15:guide>
        <p15:guide id="15" orient="horz">
          <p15:clr>
            <a:srgbClr xmlns:a="http://schemas.openxmlformats.org/drawingml/2006/main" val="F26B43"/>
          </p15:clr>
        </p15:guide>
        <p15:guide id="17" orient="horz" pos="248">
          <p15:clr>
            <a:srgbClr xmlns:a="http://schemas.openxmlformats.org/drawingml/2006/main" val="F26B43"/>
          </p15:clr>
        </p15:guide>
        <p15:guide id="18" orient="horz" pos="656">
          <p15:clr>
            <a:srgbClr xmlns:a="http://schemas.openxmlformats.org/drawingml/2006/main" val="F26B43"/>
          </p15:clr>
        </p15:guide>
        <p15:guide id="19" orient="horz" pos="872">
          <p15:clr>
            <a:srgbClr xmlns:a="http://schemas.openxmlformats.org/drawingml/2006/main" val="F26B43"/>
          </p15:clr>
        </p15:guide>
        <p15:guide id="20" orient="horz" pos="1280">
          <p15:clr>
            <a:srgbClr xmlns:a="http://schemas.openxmlformats.org/drawingml/2006/main" val="F26B43"/>
          </p15:clr>
        </p15:guide>
        <p15:guide id="21" orient="horz" pos="1496">
          <p15:clr>
            <a:srgbClr xmlns:a="http://schemas.openxmlformats.org/drawingml/2006/main" val="F26B43"/>
          </p15:clr>
        </p15:guide>
        <p15:guide id="22" orient="horz" pos="1904">
          <p15:clr>
            <a:srgbClr xmlns:a="http://schemas.openxmlformats.org/drawingml/2006/main" val="F26B43"/>
          </p15:clr>
        </p15:guide>
        <p15:guide id="23" orient="horz" pos="2120">
          <p15:clr>
            <a:srgbClr xmlns:a="http://schemas.openxmlformats.org/drawingml/2006/main" val="F26B43"/>
          </p15:clr>
        </p15:guide>
        <p15:guide id="24" orient="horz" pos="2528">
          <p15:clr>
            <a:srgbClr xmlns:a="http://schemas.openxmlformats.org/drawingml/2006/main" val="F26B43"/>
          </p15:clr>
        </p15:guide>
        <p15:guide id="25" orient="horz" pos="2744">
          <p15:clr>
            <a:srgbClr xmlns:a="http://schemas.openxmlformats.org/drawingml/2006/main" val="F26B43"/>
          </p15:clr>
        </p15:guide>
        <p15:guide id="26" orient="horz" pos="3152">
          <p15:clr>
            <a:srgbClr xmlns:a="http://schemas.openxmlformats.org/drawingml/2006/main" val="F26B43"/>
          </p15:clr>
        </p15:guide>
        <p15:guide id="27" orient="horz" pos="3368">
          <p15:clr>
            <a:srgbClr xmlns:a="http://schemas.openxmlformats.org/drawingml/2006/main" val="F26B43"/>
          </p15:clr>
        </p15:guide>
        <p15:guide id="28" orient="horz" pos="3776">
          <p15:clr>
            <a:srgbClr xmlns:a="http://schemas.openxmlformats.org/drawingml/2006/main" val="F26B43"/>
          </p15:clr>
        </p15:guide>
        <p15:guide id="29" orient="horz" pos="4088">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Inter">
      <a:majorFont>
        <a:latin typeface="Inter"/>
        <a:ea typeface=""/>
        <a:cs typeface=""/>
      </a:majorFont>
      <a:minorFont>
        <a:latin typeface="Inter"/>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8bf5f0c204b4b59" /><Relationship Type="http://schemas.openxmlformats.org/officeDocument/2006/relationships/notesSlide" Target="/ppt/notesSlides/notesSlide1.xml" Id="R8b3d9812b41547b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18cc7673be745c6" /><Relationship Type="http://schemas.openxmlformats.org/officeDocument/2006/relationships/image" Target="/ppt/media/image.png" Id="Rc1f48e9a892549af" /><Relationship Type="http://schemas.openxmlformats.org/officeDocument/2006/relationships/notesSlide" Target="/ppt/notesSlides/notesSlide2.xml" Id="R845e8adf06d944d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c4b0bf0d6bf41b7" /><Relationship Type="http://schemas.openxmlformats.org/officeDocument/2006/relationships/notesSlide" Target="/ppt/notesSlides/notesSlide3.xml" Id="Raa4e90580ccb4d8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ed3c06179804fda" /><Relationship Type="http://schemas.openxmlformats.org/officeDocument/2006/relationships/notesSlide" Target="/ppt/notesSlides/notesSlide4.xml" Id="Rc938f64034c846f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e1ba67343094d22" /><Relationship Type="http://schemas.openxmlformats.org/officeDocument/2006/relationships/notesSlide" Target="/ppt/notesSlides/notesSlide5.xml" Id="R636c0d1d7db1428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d8fc4f53a8f4793" /><Relationship Type="http://schemas.openxmlformats.org/officeDocument/2006/relationships/image" Target="/ppt/media/image2.png" Id="Ra1b8b7ccfdb0478a" /><Relationship Type="http://schemas.openxmlformats.org/officeDocument/2006/relationships/notesSlide" Target="/ppt/notesSlides/notesSlide6.xml" Id="R0f1cc49552e0413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751e1e8f0be4c5e" /><Relationship Type="http://schemas.openxmlformats.org/officeDocument/2006/relationships/notesSlide" Target="/ppt/notesSlides/notesSlide7.xml" Id="R77e8647274bd495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20c1f05e3414445" /><Relationship Type="http://schemas.openxmlformats.org/officeDocument/2006/relationships/notesSlide" Target="/ppt/notesSlides/notesSlide8.xml" Id="R133e35a0bf4d4fd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859e75a822a4a83" /><Relationship Type="http://schemas.openxmlformats.org/officeDocument/2006/relationships/notesSlide" Target="/ppt/notesSlides/notesSlide9.xml" Id="R717af3c31de34fc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86644ae6a194410" /><Relationship Type="http://schemas.openxmlformats.org/officeDocument/2006/relationships/notesSlide" Target="/ppt/notesSlides/notesSlide10.xml" Id="Reb1720b3822244e2"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59A8DA10-BC74-F432-B483-CF813D4319AD}"/>
              </a:ext>
            </a:extLst>
          </p:cNvPr>
          <p:cNvSpPr>
            <a:spLocks xmlns:a="http://schemas.openxmlformats.org/drawingml/2006/main" noGrp="1"/>
          </p:cNvSpPr>
          <p:nvPr>
            <p:ph type="ctrTitle" idx="0"/>
          </p:nvPr>
        </p:nvSpPr>
        <p:spPr>
          <a:xfrm xmlns:a="http://schemas.openxmlformats.org/drawingml/2006/main">
            <a:off x="1371600" y="2066174"/>
            <a:ext cx="9448800" cy="2203686"/>
          </a:xfrm>
        </p:spPr>
        <p:txBody>
          <a:bodyPr xmlns:a="http://schemas.openxmlformats.org/drawingml/2006/main">
            <a:noAutofit/>
          </a:bodyPr>
          <a:lstStyle xmlns:a="http://schemas.openxmlformats.org/drawingml/2006/main"/>
          <a:p xmlns:a="http://schemas.openxmlformats.org/drawingml/2006/main">
            <a:pPr algn="ctr">
              <a:buNone/>
            </a:pPr>
            <a:r>
              <a:rPr sz="7200">
                <a:solidFill>
                  <a:srgbClr val="BCEF59"/>
                </a:solidFill>
              </a:rPr>
              <a:t>TriageXR</a:t>
            </a:r>
          </a:p>
          <a:p xmlns:a="http://schemas.openxmlformats.org/drawingml/2006/main">
            <a:pPr algn="ctr">
              <a:buNone/>
            </a:pPr>
            <a:r>
              <a:rPr sz="7200">
                <a:solidFill>
                  <a:srgbClr val="BCEF59"/>
                </a:solidFill>
              </a:rPr>
              <a:t>Train for the chaos before it happens</a:t>
            </a:r>
          </a:p>
        </p:txBody>
      </p:sp>
      <p:sp>
        <p:nvSpPr>
          <p:cNvPr id="6" name="Subtitle 4">
            <a:extLst xmlns:a="http://schemas.openxmlformats.org/drawingml/2006/main">
              <a:ext uri="{FF2B5EF4-FFF2-40B4-BE49-F238E27FC236}">
                <a16:creationId xmlns:a16="http://schemas.microsoft.com/office/drawing/2014/main" id="{47DF5305-453D-AB88-8DE6-9846FEB1B651}"/>
              </a:ext>
            </a:extLst>
          </p:cNvPr>
          <p:cNvSpPr>
            <a:spLocks xmlns:a="http://schemas.openxmlformats.org/drawingml/2006/main" noGrp="1"/>
          </p:cNvSpPr>
          <p:nvPr/>
        </p:nvSpPr>
        <p:spPr>
          <a:xfrm xmlns:a="http://schemas.openxmlformats.org/drawingml/2006/main">
            <a:off x="2461605" y="4874716"/>
            <a:ext cx="7267329" cy="691197"/>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lgn="ctr">
              <a:buNone/>
            </a:pPr>
            <a:r>
              <a:rPr sz="2200">
                <a:latin typeface="Inter Medium"/>
                <a:ea typeface="Inter Medium"/>
                <a:cs typeface="Inter Medium"/>
              </a:rPr>
              <a:t>Spatial computing + AI for mass-casualty incident readiness</a:t>
            </a:r>
          </a:p>
        </p:txBody>
      </p:sp>
      <p:sp>
        <p:nvSpPr>
          <p:cNvPr id="3" name="Rounded Rectangle 2">
            <a:extLst xmlns:a="http://schemas.openxmlformats.org/drawingml/2006/main">
              <a:ext uri="{FF2B5EF4-FFF2-40B4-BE49-F238E27FC236}">
                <a16:creationId xmlns:a16="http://schemas.microsoft.com/office/drawing/2014/main" id="{A4393902-CF74-AC35-55A9-910ABBD4C9FD}"/>
              </a:ext>
            </a:extLst>
          </p:cNvPr>
          <p:cNvSpPr>
            <a:spLocks xmlns:a="http://schemas.openxmlformats.org/drawingml/2006/main" noGrp="1"/>
          </p:cNvSpPr>
          <p:nvPr/>
        </p:nvSpPr>
        <p:spPr>
          <a:xfrm xmlns:a="http://schemas.openxmlformats.org/drawingml/2006/main">
            <a:off x="4793264" y="1096027"/>
            <a:ext cx="2604013" cy="488816"/>
          </a:xfrm>
          <a:prstGeom xmlns:a="http://schemas.openxmlformats.org/drawingml/2006/main" prst="roundRect">
            <a:avLst>
              <a:gd name="adj" fmla="val 50000"/>
            </a:avLst>
          </a:prstGeom>
          <a:solidFill xmlns:a="http://schemas.openxmlformats.org/drawingml/2006/main">
            <a:schemeClr val="tx1">
              <a:alpha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1600" b="1">
                <a:solidFill>
                  <a:schemeClr val="tx1"/>
                </a:solidFill>
                <a:latin typeface="Inter SemiBold"/>
                <a:ea typeface="Inter SemiBold"/>
                <a:cs typeface="Inter SemiBold"/>
              </a:rPr>
              <a:t>SPATIAL HACK AI</a:t>
            </a:r>
          </a:p>
        </p:txBody>
      </p:sp>
    </p:spTree>
    <p:extLst>
      <p:ext uri="{BB962C8B-B14F-4D97-AF65-F5344CB8AC3E}">
        <p14:creationId xmlns:p14="http://schemas.microsoft.com/office/powerpoint/2010/main" val="350773716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3E20367F-43F2-7564-3994-7F969BF46CE8}"/>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r>
              <a:t>TriageXR  •  Spatial Hack AI</a:t>
            </a:r>
            <a:endParaRPr/>
          </a:p>
        </p:txBody>
      </p:sp>
      <p:sp>
        <p:nvSpPr>
          <p:cNvPr id="532" name="Google Shape;532;p58">
            <a:extLst xmlns:a="http://schemas.openxmlformats.org/drawingml/2006/main">
              <a:ext uri="{FF2B5EF4-FFF2-40B4-BE49-F238E27FC236}">
                <a16:creationId xmlns:a16="http://schemas.microsoft.com/office/drawing/2014/main" id="{D4C92004-F6FC-8FE6-BAD5-82F7D96E79D7}"/>
              </a:ext>
            </a:extLst>
          </p:cNvPr>
          <p:cNvSpPr>
            <a:spLocks xmlns:a="http://schemas.openxmlformats.org/drawingml/2006/main" noGrp="1"/>
          </p:cNvSpPr>
          <p:nvPr>
            <p:ph type="sldNum" idx="4"/>
          </p:nvPr>
        </p:nvSpPr>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CBAEABBA-AD62-52D1-5588-17C604158753}" type="slidenum">
              <a:t>02</a:t>
            </a:fld>
            <a:endParaRPr/>
          </a:p>
        </p:txBody>
      </p:sp>
      <p:sp>
        <p:nvSpPr>
          <p:cNvPr id="533" name="Google Shape;533;p58">
            <a:extLst xmlns:a="http://schemas.openxmlformats.org/drawingml/2006/main">
              <a:ext uri="{FF2B5EF4-FFF2-40B4-BE49-F238E27FC236}">
                <a16:creationId xmlns:a16="http://schemas.microsoft.com/office/drawing/2014/main" id="{3A80AAE9-99DA-415B-48E5-DF2948540391}"/>
              </a:ext>
            </a:extLst>
          </p:cNvPr>
          <p:cNvSpPr>
            <a:spLocks xmlns:a="http://schemas.openxmlformats.org/drawingml/2006/main" noGrp="1"/>
          </p:cNvSpPr>
          <p:nvPr>
            <p:ph type="title" idx="0"/>
          </p:nvPr>
        </p:nvSpPr>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Live drills are scarce. Decisions still need practice.</a:t>
            </a:r>
          </a:p>
        </p:txBody>
      </p:sp>
      <p:sp>
        <p:nvSpPr>
          <p:cNvPr id="2" name="Google Shape;534;p58">
            <a:extLst xmlns:a="http://schemas.openxmlformats.org/drawingml/2006/main">
              <a:ext uri="{FF2B5EF4-FFF2-40B4-BE49-F238E27FC236}">
                <a16:creationId xmlns:a16="http://schemas.microsoft.com/office/drawing/2014/main" id="{D4EE2969-B7C7-0C70-E299-B866E67DBC36}"/>
              </a:ext>
            </a:extLst>
          </p:cNvPr>
          <p:cNvSpPr>
            <a:spLocks xmlns:a="http://schemas.openxmlformats.org/drawingml/2006/main" noGrp="1"/>
          </p:cNvSpPr>
          <p:nvPr/>
        </p:nvSpPr>
        <p:spPr>
          <a:xfrm xmlns:a="http://schemas.openxmlformats.org/drawingml/2006/main">
            <a:off x="393700" y="1684867"/>
            <a:ext cx="5537200" cy="1744133"/>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a:solidFill>
                  <a:srgbClr val="BCEF59"/>
                </a:solidFill>
                <a:latin typeface="Inter"/>
                <a:ea typeface="Inter"/>
                <a:cs typeface="Inter"/>
              </a:rPr>
              <a:t>High-stakes, low-frequency</a:t>
            </a:r>
          </a:p>
          <a:p xmlns:a="http://schemas.openxmlformats.org/drawingml/2006/main">
            <a:pPr marL="0" indent="0">
              <a:lnSpc>
                <a:spcPct val="114000"/>
              </a:lnSpc>
              <a:spcBef>
                <a:spcPts val="0"/>
              </a:spcBef>
              <a:spcAft>
                <a:spcPts val="800"/>
              </a:spcAft>
              <a:buFont typeface="Arial"/>
              <a:buNone/>
            </a:pPr>
            <a:r>
              <a:rPr sz="1700">
                <a:latin typeface="Inter"/>
                <a:ea typeface="Inter"/>
                <a:cs typeface="Inter"/>
              </a:rPr>
              <a:t>Live exercises need space, actors, equipment, instructors, and reset time.</a:t>
            </a:r>
          </a:p>
        </p:txBody>
      </p:sp>
      <p:sp>
        <p:nvSpPr>
          <p:cNvPr id="3" name="Google Shape;534;p58">
            <a:extLst xmlns:a="http://schemas.openxmlformats.org/drawingml/2006/main">
              <a:ext uri="{FF2B5EF4-FFF2-40B4-BE49-F238E27FC236}">
                <a16:creationId xmlns:a16="http://schemas.microsoft.com/office/drawing/2014/main" id="{72A34455-41AC-E436-D08C-DBCA262EF4C8}"/>
              </a:ext>
            </a:extLst>
          </p:cNvPr>
          <p:cNvSpPr>
            <a:spLocks xmlns:a="http://schemas.openxmlformats.org/drawingml/2006/main" noGrp="1"/>
          </p:cNvSpPr>
          <p:nvPr/>
        </p:nvSpPr>
        <p:spPr>
          <a:xfrm xmlns:a="http://schemas.openxmlformats.org/drawingml/2006/main">
            <a:off x="393700" y="3855855"/>
            <a:ext cx="5537200" cy="1744133"/>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a:solidFill>
                  <a:srgbClr val="BCEF59"/>
                </a:solidFill>
                <a:latin typeface="Inter"/>
                <a:ea typeface="Inter"/>
                <a:cs typeface="Inter"/>
              </a:rPr>
              <a:t>Decisions happen under pressure</a:t>
            </a:r>
          </a:p>
          <a:p xmlns:a="http://schemas.openxmlformats.org/drawingml/2006/main">
            <a:pPr marL="0" indent="0">
              <a:lnSpc>
                <a:spcPct val="114000"/>
              </a:lnSpc>
              <a:spcBef>
                <a:spcPts val="0"/>
              </a:spcBef>
              <a:spcAft>
                <a:spcPts val="800"/>
              </a:spcAft>
              <a:buFont typeface="Arial"/>
              <a:buNone/>
            </a:pPr>
            <a:r>
              <a:rPr sz="1700">
                <a:latin typeface="Inter"/>
                <a:ea typeface="Inter"/>
                <a:cs typeface="Inter"/>
              </a:rPr>
              <a:t>Trainees must survey hazards, prioritise casualties, coordinate roles, and reassess as conditions change.</a:t>
            </a:r>
          </a:p>
        </p:txBody>
      </p:sp>
      <p:pic>
        <p:nvPicPr>
          <p:cNvPr id="541" name=""/>
          <p:cNvPicPr>
            <a:picLocks xmlns:a="http://schemas.openxmlformats.org/drawingml/2006/main" noChangeAspect="1"/>
          </p:cNvPicPr>
          <p:nvPr/>
        </p:nvPicPr>
        <p:blipFill>
          <a:blip xmlns:r="http://schemas.openxmlformats.org/officeDocument/2006/relationships" xmlns:a="http://schemas.openxmlformats.org/drawingml/2006/main" r:embed="Rc1f48e9a892549af"/>
          <a:srcRect xmlns:a="http://schemas.openxmlformats.org/drawingml/2006/main" l="5428" t="29168" r="0" b="23013"/>
          <a:stretch xmlns:a="http://schemas.openxmlformats.org/drawingml/2006/main"/>
        </p:blipFill>
        <p:spPr>
          <a:xfrm xmlns:a="http://schemas.openxmlformats.org/drawingml/2006/main">
            <a:off x="6269040" y="396409"/>
            <a:ext cx="5539740" cy="5602070"/>
          </a:xfrm>
          <a:prstGeom xmlns:a="http://schemas.openxmlformats.org/drawingml/2006/main" prst="roundRect">
            <a:avLst/>
          </a:prstGeom>
        </p:spPr>
      </p:pic>
    </p:spTree>
    <p:extLst>
      <p:ext uri="{BB962C8B-B14F-4D97-AF65-F5344CB8AC3E}">
        <p14:creationId xmlns:p14="http://schemas.microsoft.com/office/powerpoint/2010/main" val="3245670770"/>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4" name="Footer Placeholder 3">
            <a:extLst xmlns:a="http://schemas.openxmlformats.org/drawingml/2006/main">
              <a:ext uri="{FF2B5EF4-FFF2-40B4-BE49-F238E27FC236}">
                <a16:creationId xmlns:a16="http://schemas.microsoft.com/office/drawing/2014/main" id="{ADE525C3-6A65-3281-3715-AE2CF21E370C}"/>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r>
              <a:t>TriageXR  •  Spatial Hack AI</a:t>
            </a:r>
            <a:endParaRPr/>
          </a:p>
        </p:txBody>
      </p:sp>
      <p:sp>
        <p:nvSpPr>
          <p:cNvPr id="532" name="Google Shape;532;p58">
            <a:extLst xmlns:a="http://schemas.openxmlformats.org/drawingml/2006/main">
              <a:ext uri="{FF2B5EF4-FFF2-40B4-BE49-F238E27FC236}">
                <a16:creationId xmlns:a16="http://schemas.microsoft.com/office/drawing/2014/main" id="{855F9338-C523-361B-6D81-B9AAD76BBB65}"/>
              </a:ext>
            </a:extLst>
          </p:cNvPr>
          <p:cNvSpPr>
            <a:spLocks xmlns:a="http://schemas.openxmlformats.org/drawingml/2006/main" noGrp="1"/>
          </p:cNvSpPr>
          <p:nvPr>
            <p:ph type="sldNum" idx="4"/>
          </p:nvPr>
        </p:nvSpPr>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0BADEEDC-EEE1-8597-0639-A35D9BA153EC}" type="slidenum">
              <a:t>03</a:t>
            </a:fld>
            <a:endParaRPr/>
          </a:p>
        </p:txBody>
      </p:sp>
      <p:sp>
        <p:nvSpPr>
          <p:cNvPr id="533" name="Google Shape;533;p58">
            <a:extLst xmlns:a="http://schemas.openxmlformats.org/drawingml/2006/main">
              <a:ext uri="{FF2B5EF4-FFF2-40B4-BE49-F238E27FC236}">
                <a16:creationId xmlns:a16="http://schemas.microsoft.com/office/drawing/2014/main" id="{509200BE-15E5-FE37-6AFE-A51B10E1A9BC}"/>
              </a:ext>
            </a:extLst>
          </p:cNvPr>
          <p:cNvSpPr>
            <a:spLocks xmlns:a="http://schemas.openxmlformats.org/drawingml/2006/main" noGrp="1"/>
          </p:cNvSpPr>
          <p:nvPr>
            <p:ph type="title" idx="0"/>
          </p:nvPr>
        </p:nvSpPr>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TriageXR turns any safe room into a repeatable, evidence-rich incident</a:t>
            </a:r>
          </a:p>
        </p:txBody>
      </p:sp>
      <p:sp>
        <p:nvSpPr>
          <p:cNvPr id="534" name="Google Shape;534;p58">
            <a:extLst xmlns:a="http://schemas.openxmlformats.org/drawingml/2006/main">
              <a:ext uri="{FF2B5EF4-FFF2-40B4-BE49-F238E27FC236}">
                <a16:creationId xmlns:a16="http://schemas.microsoft.com/office/drawing/2014/main" id="{94D83715-924E-FD86-6E33-16B595E7DE71}"/>
              </a:ext>
            </a:extLst>
          </p:cNvPr>
          <p:cNvSpPr>
            <a:spLocks xmlns:a="http://schemas.openxmlformats.org/drawingml/2006/main" noGrp="1"/>
          </p:cNvSpPr>
          <p:nvPr>
            <p:ph idx="4294967295"/>
          </p:nvPr>
        </p:nvSpPr>
        <p:spPr>
          <a:xfrm xmlns:a="http://schemas.openxmlformats.org/drawingml/2006/main">
            <a:off x="393700" y="3365500"/>
            <a:ext cx="3568700" cy="2628900"/>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marL="0" indent="0">
              <a:lnSpc>
                <a:spcPct val="114000"/>
              </a:lnSpc>
              <a:spcBef>
                <a:spcPts val="0"/>
              </a:spcBef>
              <a:spcAft>
                <a:spcPts val="800"/>
              </a:spcAft>
              <a:buNone/>
            </a:pPr>
            <a:r>
              <a:rPr sz="1800" b="1">
                <a:latin typeface="Inter SemiBold"/>
                <a:ea typeface="Inter SemiBold"/>
                <a:cs typeface="Inter SemiBold"/>
              </a:rPr>
              <a:t>See the whole scene</a:t>
            </a:r>
            <a:endParaRPr sz="1800" b="1">
              <a:latin typeface="Inter SemiBold"/>
              <a:ea typeface="Inter SemiBold"/>
              <a:cs typeface="Inter SemiBold"/>
            </a:endParaRPr>
          </a:p>
          <a:p xmlns:a="http://schemas.openxmlformats.org/drawingml/2006/main">
            <a:pPr marL="0" indent="0">
              <a:lnSpc>
                <a:spcPct val="114000"/>
              </a:lnSpc>
              <a:spcBef>
                <a:spcPts val="0"/>
              </a:spcBef>
              <a:spcAft>
                <a:spcPts val="800"/>
              </a:spcAft>
              <a:buNone/>
            </a:pPr>
            <a:r>
              <a:rPr sz="1800">
                <a:latin typeface="Inter"/>
                <a:ea typeface="Inter"/>
                <a:cs typeface="Inter"/>
              </a:rPr>
              <a:t>A mixed-reality roadside collision surrounds the trainee with casualties, vehicles, hazards, and sector beacons.</a:t>
            </a:r>
            <a:endParaRPr sz="1800">
              <a:latin typeface="Inter"/>
              <a:ea typeface="Inter"/>
              <a:cs typeface="Inter"/>
            </a:endParaRPr>
          </a:p>
        </p:txBody>
      </p:sp>
      <p:sp>
        <p:nvSpPr>
          <p:cNvPr id="2" name="Content Placeholder 1">
            <a:extLst xmlns:a="http://schemas.openxmlformats.org/drawingml/2006/main">
              <a:ext uri="{FF2B5EF4-FFF2-40B4-BE49-F238E27FC236}">
                <a16:creationId xmlns:a16="http://schemas.microsoft.com/office/drawing/2014/main" id="{49D4B6C8-289F-F081-BCAE-309463E70BA1}"/>
              </a:ext>
            </a:extLst>
          </p:cNvPr>
          <p:cNvSpPr>
            <a:spLocks xmlns:a="http://schemas.openxmlformats.org/drawingml/2006/main" noGrp="1"/>
          </p:cNvSpPr>
          <p:nvPr>
            <p:ph idx="4294967295"/>
          </p:nvPr>
        </p:nvSpPr>
        <p:spPr>
          <a:xfrm xmlns:a="http://schemas.openxmlformats.org/drawingml/2006/main">
            <a:off x="8229600" y="3365500"/>
            <a:ext cx="3568700" cy="2628900"/>
          </a:xfrm>
        </p:spPr>
        <p:txBody>
          <a:bodyPr xmlns:a="http://schemas.openxmlformats.org/drawingml/2006/main">
            <a:normAutofit fontScale="100000"/>
          </a:bodyPr>
          <a:lstStyle xmlns:a="http://schemas.openxmlformats.org/drawingml/2006/main"/>
          <a:p xmlns:a="http://schemas.openxmlformats.org/drawingml/2006/main">
            <a:pPr marL="0" marR="0" lvl="0" indent="0">
              <a:lnSpc>
                <a:spcPct val="114000"/>
              </a:lnSpc>
              <a:spcBef>
                <a:spcPts val="0"/>
              </a:spcBef>
              <a:spcAft>
                <a:spcPts val="800"/>
              </a:spcAft>
              <a:buClrTx/>
              <a:buSzTx/>
              <a:buNone/>
            </a:pPr>
            <a:r>
              <a:rPr sz="1800" b="1">
                <a:latin typeface="Inter SemiBold"/>
                <a:ea typeface="Inter SemiBold"/>
                <a:cs typeface="Inter SemiBold"/>
              </a:rPr>
              <a:t>Explain every choice</a:t>
            </a:r>
          </a:p>
          <a:p xmlns:a="http://schemas.openxmlformats.org/drawingml/2006/main">
            <a:pPr marL="0" marR="0" lvl="0" indent="0" algn="l" defTabSz="914400">
              <a:lnSpc>
                <a:spcPct val="114000"/>
              </a:lnSpc>
              <a:spcBef>
                <a:spcPts val="0"/>
              </a:spcBef>
              <a:spcAft>
                <a:spcPts val="800"/>
              </a:spcAft>
              <a:buClrTx/>
              <a:buSzTx/>
              <a:buFont typeface="Arial"/>
              <a:buNone/>
            </a:pPr>
            <a:r>
              <a:rPr sz="1800" b="0" i="0" u="none" cap="none">
                <a:ln>
                  <a:noFill/>
                </a:ln>
                <a:latin typeface="Inter"/>
                <a:ea typeface="Inter"/>
                <a:cs typeface="Inter"/>
              </a:rPr>
              <a:t>Every action becomes attributed evidence for a deterministic score and grounded AI coaching.</a:t>
            </a:r>
          </a:p>
        </p:txBody>
      </p:sp>
      <p:sp>
        <p:nvSpPr>
          <p:cNvPr id="3" name="Content Placeholder 2">
            <a:extLst xmlns:a="http://schemas.openxmlformats.org/drawingml/2006/main">
              <a:ext uri="{FF2B5EF4-FFF2-40B4-BE49-F238E27FC236}">
                <a16:creationId xmlns:a16="http://schemas.microsoft.com/office/drawing/2014/main" id="{E4A749CC-0D72-2ABA-CEDC-7DFC7D138B4B}"/>
              </a:ext>
            </a:extLst>
          </p:cNvPr>
          <p:cNvSpPr>
            <a:spLocks xmlns:a="http://schemas.openxmlformats.org/drawingml/2006/main" noGrp="1"/>
          </p:cNvSpPr>
          <p:nvPr>
            <p:ph idx="4294967295"/>
          </p:nvPr>
        </p:nvSpPr>
        <p:spPr>
          <a:xfrm xmlns:a="http://schemas.openxmlformats.org/drawingml/2006/main">
            <a:off x="4311650" y="3365500"/>
            <a:ext cx="3568700" cy="2628900"/>
          </a:xfrm>
        </p:spPr>
        <p:txBody>
          <a:bodyPr xmlns:a="http://schemas.openxmlformats.org/drawingml/2006/main">
            <a:normAutofit fontScale="100000"/>
          </a:bodyPr>
          <a:lstStyle xmlns:a="http://schemas.openxmlformats.org/drawingml/2006/main"/>
          <a:p xmlns:a="http://schemas.openxmlformats.org/drawingml/2006/main">
            <a:pPr marL="0" marR="0" lvl="0" indent="0">
              <a:lnSpc>
                <a:spcPct val="114000"/>
              </a:lnSpc>
              <a:spcBef>
                <a:spcPts val="0"/>
              </a:spcBef>
              <a:spcAft>
                <a:spcPts val="800"/>
              </a:spcAft>
              <a:buClrTx/>
              <a:buSzTx/>
              <a:buNone/>
            </a:pPr>
            <a:r>
              <a:rPr sz="1800" b="1">
                <a:latin typeface="Inter SemiBold"/>
                <a:ea typeface="Inter SemiBold"/>
                <a:cs typeface="Inter SemiBold"/>
              </a:rPr>
              <a:t>Feel time pressure</a:t>
            </a:r>
          </a:p>
          <a:p xmlns:a="http://schemas.openxmlformats.org/drawingml/2006/main">
            <a:pPr marL="0" marR="0" lvl="0" indent="0" algn="l" defTabSz="914400">
              <a:lnSpc>
                <a:spcPct val="114000"/>
              </a:lnSpc>
              <a:spcBef>
                <a:spcPts val="0"/>
              </a:spcBef>
              <a:spcAft>
                <a:spcPts val="800"/>
              </a:spcAft>
              <a:buClrTx/>
              <a:buSzTx/>
              <a:buFont typeface="Arial"/>
              <a:buNone/>
            </a:pPr>
            <a:r>
              <a:rPr sz="1800" b="0" i="0" u="none" cap="none">
                <a:ln>
                  <a:noFill/>
                </a:ln>
                <a:latin typeface="Inter"/>
                <a:ea typeface="Inter"/>
                <a:cs typeface="Inter"/>
              </a:rPr>
              <a:t>Casualty state changes on a clinically meaningful clock; reassessment and sustained team action alter outcomes.</a:t>
            </a:r>
          </a:p>
        </p:txBody>
      </p:sp>
      <p:sp>
        <p:nvSpPr>
          <p:cNvPr id="7" name="Content Placeholder 15">
            <a:extLst xmlns:a="http://schemas.openxmlformats.org/drawingml/2006/main">
              <a:ext uri="{FF2B5EF4-FFF2-40B4-BE49-F238E27FC236}">
                <a16:creationId xmlns:a16="http://schemas.microsoft.com/office/drawing/2014/main" id="{DD72B81A-AC75-C1B0-4313-7B84D70521A7}"/>
              </a:ext>
            </a:extLst>
          </p:cNvPr>
          <p:cNvSpPr>
            <a:spLocks xmlns:a="http://schemas.openxmlformats.org/drawingml/2006/main" noGrp="1"/>
          </p:cNvSpPr>
          <p:nvPr/>
        </p:nvSpPr>
        <p:spPr>
          <a:xfrm xmlns:a="http://schemas.openxmlformats.org/drawingml/2006/main">
            <a:off x="393700" y="2763754"/>
            <a:ext cx="1612900" cy="2624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400" b="1">
                <a:solidFill>
                  <a:srgbClr val="BCEF59"/>
                </a:solidFill>
                <a:latin typeface="Inter SemiBold"/>
                <a:ea typeface="Inter SemiBold"/>
                <a:cs typeface="Inter SemiBold"/>
              </a:rPr>
              <a:t>SPATIAL</a:t>
            </a:r>
          </a:p>
        </p:txBody>
      </p:sp>
      <p:sp>
        <p:nvSpPr>
          <p:cNvPr id="8" name="Content Placeholder 15">
            <a:extLst xmlns:a="http://schemas.openxmlformats.org/drawingml/2006/main">
              <a:ext uri="{FF2B5EF4-FFF2-40B4-BE49-F238E27FC236}">
                <a16:creationId xmlns:a16="http://schemas.microsoft.com/office/drawing/2014/main" id="{5200B2E2-6D19-9AFE-1E8D-518E55CC26ED}"/>
              </a:ext>
            </a:extLst>
          </p:cNvPr>
          <p:cNvSpPr>
            <a:spLocks xmlns:a="http://schemas.openxmlformats.org/drawingml/2006/main" noGrp="1"/>
          </p:cNvSpPr>
          <p:nvPr/>
        </p:nvSpPr>
        <p:spPr>
          <a:xfrm xmlns:a="http://schemas.openxmlformats.org/drawingml/2006/main">
            <a:off x="4294187" y="2763754"/>
            <a:ext cx="1612900" cy="2624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400" b="1">
                <a:solidFill>
                  <a:srgbClr val="BCEF59"/>
                </a:solidFill>
                <a:latin typeface="Inter SemiBold"/>
                <a:ea typeface="Inter SemiBold"/>
                <a:cs typeface="Inter SemiBold"/>
              </a:rPr>
              <a:t>ADAPTIVE</a:t>
            </a:r>
          </a:p>
        </p:txBody>
      </p:sp>
      <p:sp>
        <p:nvSpPr>
          <p:cNvPr id="9" name="Content Placeholder 15">
            <a:extLst xmlns:a="http://schemas.openxmlformats.org/drawingml/2006/main">
              <a:ext uri="{FF2B5EF4-FFF2-40B4-BE49-F238E27FC236}">
                <a16:creationId xmlns:a16="http://schemas.microsoft.com/office/drawing/2014/main" id="{74611C1F-A471-6B24-C785-2D7A5B5DD6BA}"/>
              </a:ext>
            </a:extLst>
          </p:cNvPr>
          <p:cNvSpPr>
            <a:spLocks xmlns:a="http://schemas.openxmlformats.org/drawingml/2006/main" noGrp="1"/>
          </p:cNvSpPr>
          <p:nvPr/>
        </p:nvSpPr>
        <p:spPr>
          <a:xfrm xmlns:a="http://schemas.openxmlformats.org/drawingml/2006/main">
            <a:off x="8223249" y="2763754"/>
            <a:ext cx="1612900" cy="2624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400" b="1">
                <a:solidFill>
                  <a:srgbClr val="BCEF59"/>
                </a:solidFill>
                <a:latin typeface="Inter SemiBold"/>
                <a:ea typeface="Inter SemiBold"/>
                <a:cs typeface="Inter SemiBold"/>
              </a:rPr>
              <a:t>ACCOUNTABLE</a:t>
            </a:r>
          </a:p>
        </p:txBody>
      </p:sp>
    </p:spTree>
    <p:extLst>
      <p:ext uri="{BB962C8B-B14F-4D97-AF65-F5344CB8AC3E}">
        <p14:creationId xmlns:p14="http://schemas.microsoft.com/office/powerpoint/2010/main" val="139345699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Footer Placeholder 1">
            <a:extLst xmlns:a="http://schemas.openxmlformats.org/drawingml/2006/main">
              <a:ext uri="{FF2B5EF4-FFF2-40B4-BE49-F238E27FC236}">
                <a16:creationId xmlns:a16="http://schemas.microsoft.com/office/drawing/2014/main" id="{B4523B68-CB58-F426-D824-531128F4CB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TriageXR  •  Spatial Hack AI</a:t>
            </a:r>
            <a:endParaRPr/>
          </a:p>
        </p:txBody>
      </p:sp>
      <p:sp>
        <p:nvSpPr>
          <p:cNvPr id="532" name="Google Shape;532;p58">
            <a:extLst xmlns:a="http://schemas.openxmlformats.org/drawingml/2006/main">
              <a:ext uri="{FF2B5EF4-FFF2-40B4-BE49-F238E27FC236}">
                <a16:creationId xmlns:a16="http://schemas.microsoft.com/office/drawing/2014/main" id="{DBC152D0-CDF3-969A-A32E-0A1C97DA9364}"/>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F9970F6C-59B2-055B-5132-2DC31A7003A7}" type="slidenum">
              <a:t>04</a:t>
            </a:fld>
            <a:endParaRPr/>
          </a:p>
        </p:txBody>
      </p:sp>
      <p:sp>
        <p:nvSpPr>
          <p:cNvPr id="533" name="Google Shape;533;p58">
            <a:extLst xmlns:a="http://schemas.openxmlformats.org/drawingml/2006/main">
              <a:ext uri="{FF2B5EF4-FFF2-40B4-BE49-F238E27FC236}">
                <a16:creationId xmlns:a16="http://schemas.microsoft.com/office/drawing/2014/main" id="{9CA28587-E9DB-FD6E-67D5-B6C4D20349B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One incident. Four trainable decisions.</a:t>
            </a:r>
          </a:p>
        </p:txBody>
      </p:sp>
      <p:sp>
        <p:nvSpPr>
          <p:cNvPr id="12" name="Content Placeholder 10">
            <a:extLst xmlns:a="http://schemas.openxmlformats.org/drawingml/2006/main">
              <a:ext uri="{FF2B5EF4-FFF2-40B4-BE49-F238E27FC236}">
                <a16:creationId xmlns:a16="http://schemas.microsoft.com/office/drawing/2014/main" id="{2575F3F3-5548-310C-CA8A-2BB5F4F14EC8}"/>
              </a:ext>
            </a:extLst>
          </p:cNvPr>
          <p:cNvSpPr>
            <a:spLocks xmlns:a="http://schemas.openxmlformats.org/drawingml/2006/main" noGrp="1"/>
          </p:cNvSpPr>
          <p:nvPr/>
        </p:nvSpPr>
        <p:spPr>
          <a:xfrm xmlns:a="http://schemas.openxmlformats.org/drawingml/2006/main">
            <a:off x="6972300" y="2374901"/>
            <a:ext cx="4826000" cy="6477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pPr>
            <a:r>
              <a:rPr sz="1600"/>
              <a:t>Turn through front, left, rear, and right sectors; identify the fuel spill and request resources.</a:t>
            </a:r>
          </a:p>
        </p:txBody>
      </p:sp>
      <p:sp>
        <p:nvSpPr>
          <p:cNvPr id="15" name="Content Placeholder 10">
            <a:extLst xmlns:a="http://schemas.openxmlformats.org/drawingml/2006/main">
              <a:ext uri="{FF2B5EF4-FFF2-40B4-BE49-F238E27FC236}">
                <a16:creationId xmlns:a16="http://schemas.microsoft.com/office/drawing/2014/main" id="{C50C3B7B-28A7-FE2B-805B-9E84EA8C0281}"/>
              </a:ext>
            </a:extLst>
          </p:cNvPr>
          <p:cNvSpPr>
            <a:spLocks xmlns:a="http://schemas.openxmlformats.org/drawingml/2006/main" noGrp="1"/>
          </p:cNvSpPr>
          <p:nvPr/>
        </p:nvSpPr>
        <p:spPr>
          <a:xfrm xmlns:a="http://schemas.openxmlformats.org/drawingml/2006/main">
            <a:off x="4851400" y="2374901"/>
            <a:ext cx="1866900" cy="647700"/>
          </a:xfrm>
          <a:prstGeom xmlns:a="http://schemas.openxmlformats.org/drawingml/2006/main" prst="rect">
            <a:avLst/>
          </a:prstGeom>
        </p:spPr>
        <p:txBody>
          <a:bodyPr xmlns:a="http://schemas.openxmlformats.org/drawingml/2006/main" vert="horz" lIns="0" tIns="0" rIns="0" bIns="0">
            <a:normAutofit fontScale="65104"/>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pPr>
            <a:r>
              <a:rPr sz="1600">
                <a:solidFill>
                  <a:srgbClr val="BCEF59"/>
                </a:solidFill>
                <a:latin typeface="Inter Medium"/>
                <a:ea typeface="Inter Medium"/>
                <a:cs typeface="Inter Medium"/>
              </a:rPr>
              <a:t>01</a:t>
            </a:r>
          </a:p>
          <a:p xmlns:a="http://schemas.openxmlformats.org/drawingml/2006/main">
            <a:pPr marL="0" indent="0">
              <a:lnSpc>
                <a:spcPct val="100000"/>
              </a:lnSpc>
              <a:spcBef>
                <a:spcPts val="1300"/>
              </a:spcBef>
              <a:spcAft>
                <a:spcPts val="1300"/>
              </a:spcAft>
              <a:buFontTx/>
              <a:buNone/>
            </a:pPr>
            <a:r>
              <a:rPr sz="1600">
                <a:solidFill>
                  <a:srgbClr val="BCEF59"/>
                </a:solidFill>
                <a:latin typeface="Inter Medium"/>
                <a:ea typeface="Inter Medium"/>
                <a:cs typeface="Inter Medium"/>
              </a:rPr>
              <a:t>SURVEY</a:t>
            </a:r>
          </a:p>
        </p:txBody>
      </p:sp>
      <p:sp>
        <p:nvSpPr>
          <p:cNvPr id="16" name="Content Placeholder 10">
            <a:extLst xmlns:a="http://schemas.openxmlformats.org/drawingml/2006/main">
              <a:ext uri="{FF2B5EF4-FFF2-40B4-BE49-F238E27FC236}">
                <a16:creationId xmlns:a16="http://schemas.microsoft.com/office/drawing/2014/main" id="{A989BD75-DE8D-B290-9745-1D9E8821A8C5}"/>
              </a:ext>
            </a:extLst>
          </p:cNvPr>
          <p:cNvSpPr>
            <a:spLocks xmlns:a="http://schemas.openxmlformats.org/drawingml/2006/main" noGrp="1"/>
          </p:cNvSpPr>
          <p:nvPr/>
        </p:nvSpPr>
        <p:spPr>
          <a:xfrm xmlns:a="http://schemas.openxmlformats.org/drawingml/2006/main">
            <a:off x="6972300" y="3365501"/>
            <a:ext cx="4826000" cy="6477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pPr>
            <a:r>
              <a:rPr sz="1600"/>
              <a:t>Reach to 3D targets; hand tracking verifies response, breathing, perfusion, and injury checks.</a:t>
            </a:r>
          </a:p>
        </p:txBody>
      </p:sp>
      <p:sp>
        <p:nvSpPr>
          <p:cNvPr id="17" name="Content Placeholder 10">
            <a:extLst xmlns:a="http://schemas.openxmlformats.org/drawingml/2006/main">
              <a:ext uri="{FF2B5EF4-FFF2-40B4-BE49-F238E27FC236}">
                <a16:creationId xmlns:a16="http://schemas.microsoft.com/office/drawing/2014/main" id="{E53F591C-9E43-179D-176D-24989B8B7303}"/>
              </a:ext>
            </a:extLst>
          </p:cNvPr>
          <p:cNvSpPr>
            <a:spLocks xmlns:a="http://schemas.openxmlformats.org/drawingml/2006/main" noGrp="1"/>
          </p:cNvSpPr>
          <p:nvPr/>
        </p:nvSpPr>
        <p:spPr>
          <a:xfrm xmlns:a="http://schemas.openxmlformats.org/drawingml/2006/main">
            <a:off x="4851400" y="3365501"/>
            <a:ext cx="1866900" cy="647700"/>
          </a:xfrm>
          <a:prstGeom xmlns:a="http://schemas.openxmlformats.org/drawingml/2006/main" prst="rect">
            <a:avLst/>
          </a:prstGeom>
        </p:spPr>
        <p:txBody>
          <a:bodyPr xmlns:a="http://schemas.openxmlformats.org/drawingml/2006/main" vert="horz" lIns="0" tIns="0" rIns="0" bIns="0">
            <a:normAutofit fontScale="65104"/>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pPr>
            <a:r>
              <a:rPr sz="1600">
                <a:solidFill>
                  <a:srgbClr val="BCEF59"/>
                </a:solidFill>
                <a:latin typeface="Inter Medium"/>
                <a:ea typeface="Inter Medium"/>
                <a:cs typeface="Inter Medium"/>
              </a:rPr>
              <a:t>02</a:t>
            </a:r>
          </a:p>
          <a:p xmlns:a="http://schemas.openxmlformats.org/drawingml/2006/main">
            <a:pPr marL="0" indent="0">
              <a:lnSpc>
                <a:spcPct val="100000"/>
              </a:lnSpc>
              <a:spcBef>
                <a:spcPts val="1300"/>
              </a:spcBef>
              <a:spcAft>
                <a:spcPts val="1300"/>
              </a:spcAft>
              <a:buFontTx/>
              <a:buNone/>
            </a:pPr>
            <a:r>
              <a:rPr sz="1600">
                <a:solidFill>
                  <a:srgbClr val="BCEF59"/>
                </a:solidFill>
                <a:latin typeface="Inter Medium"/>
                <a:ea typeface="Inter Medium"/>
                <a:cs typeface="Inter Medium"/>
              </a:rPr>
              <a:t>ASSESS</a:t>
            </a:r>
          </a:p>
        </p:txBody>
      </p:sp>
      <p:sp>
        <p:nvSpPr>
          <p:cNvPr id="18" name="Content Placeholder 10">
            <a:extLst xmlns:a="http://schemas.openxmlformats.org/drawingml/2006/main">
              <a:ext uri="{FF2B5EF4-FFF2-40B4-BE49-F238E27FC236}">
                <a16:creationId xmlns:a16="http://schemas.microsoft.com/office/drawing/2014/main" id="{A7B38CBA-379D-8AEA-4C18-49046133E7A5}"/>
              </a:ext>
            </a:extLst>
          </p:cNvPr>
          <p:cNvSpPr>
            <a:spLocks xmlns:a="http://schemas.openxmlformats.org/drawingml/2006/main" noGrp="1"/>
          </p:cNvSpPr>
          <p:nvPr/>
        </p:nvSpPr>
        <p:spPr>
          <a:xfrm xmlns:a="http://schemas.openxmlformats.org/drawingml/2006/main">
            <a:off x="6972300" y="4356101"/>
            <a:ext cx="4826000" cy="6477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pPr>
            <a:r>
              <a:rPr sz="1600"/>
              <a:t>Assign P1, P2, P3, or Expectant, then reassess when visible evidence changes.</a:t>
            </a:r>
          </a:p>
        </p:txBody>
      </p:sp>
      <p:sp>
        <p:nvSpPr>
          <p:cNvPr id="19" name="Content Placeholder 10">
            <a:extLst xmlns:a="http://schemas.openxmlformats.org/drawingml/2006/main">
              <a:ext uri="{FF2B5EF4-FFF2-40B4-BE49-F238E27FC236}">
                <a16:creationId xmlns:a16="http://schemas.microsoft.com/office/drawing/2014/main" id="{C558135D-EC8F-1FA0-D966-C8D4FA20ED2A}"/>
              </a:ext>
            </a:extLst>
          </p:cNvPr>
          <p:cNvSpPr>
            <a:spLocks xmlns:a="http://schemas.openxmlformats.org/drawingml/2006/main" noGrp="1"/>
          </p:cNvSpPr>
          <p:nvPr/>
        </p:nvSpPr>
        <p:spPr>
          <a:xfrm xmlns:a="http://schemas.openxmlformats.org/drawingml/2006/main">
            <a:off x="4851400" y="4356101"/>
            <a:ext cx="1866900" cy="647700"/>
          </a:xfrm>
          <a:prstGeom xmlns:a="http://schemas.openxmlformats.org/drawingml/2006/main" prst="rect">
            <a:avLst/>
          </a:prstGeom>
        </p:spPr>
        <p:txBody>
          <a:bodyPr xmlns:a="http://schemas.openxmlformats.org/drawingml/2006/main" vert="horz" lIns="0" tIns="0" rIns="0" bIns="0">
            <a:normAutofit fontScale="65104"/>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pPr>
            <a:r>
              <a:rPr sz="1600">
                <a:solidFill>
                  <a:srgbClr val="BCEF59"/>
                </a:solidFill>
                <a:latin typeface="Inter Medium"/>
                <a:ea typeface="Inter Medium"/>
                <a:cs typeface="Inter Medium"/>
              </a:rPr>
              <a:t>03</a:t>
            </a:r>
          </a:p>
          <a:p xmlns:a="http://schemas.openxmlformats.org/drawingml/2006/main">
            <a:pPr marL="0" indent="0">
              <a:lnSpc>
                <a:spcPct val="100000"/>
              </a:lnSpc>
              <a:spcBef>
                <a:spcPts val="1300"/>
              </a:spcBef>
              <a:spcAft>
                <a:spcPts val="1300"/>
              </a:spcAft>
              <a:buFontTx/>
              <a:buNone/>
            </a:pPr>
            <a:r>
              <a:rPr sz="1600">
                <a:solidFill>
                  <a:srgbClr val="BCEF59"/>
                </a:solidFill>
                <a:latin typeface="Inter Medium"/>
                <a:ea typeface="Inter Medium"/>
                <a:cs typeface="Inter Medium"/>
              </a:rPr>
              <a:t>TRIAGE</a:t>
            </a:r>
          </a:p>
        </p:txBody>
      </p:sp>
      <p:sp>
        <p:nvSpPr>
          <p:cNvPr id="20" name="Content Placeholder 10">
            <a:extLst xmlns:a="http://schemas.openxmlformats.org/drawingml/2006/main">
              <a:ext uri="{FF2B5EF4-FFF2-40B4-BE49-F238E27FC236}">
                <a16:creationId xmlns:a16="http://schemas.microsoft.com/office/drawing/2014/main" id="{59682F0D-6358-B00F-89D9-1AC37090297F}"/>
              </a:ext>
            </a:extLst>
          </p:cNvPr>
          <p:cNvSpPr>
            <a:spLocks xmlns:a="http://schemas.openxmlformats.org/drawingml/2006/main" noGrp="1"/>
          </p:cNvSpPr>
          <p:nvPr/>
        </p:nvSpPr>
        <p:spPr>
          <a:xfrm xmlns:a="http://schemas.openxmlformats.org/drawingml/2006/main">
            <a:off x="6972300" y="5359401"/>
            <a:ext cx="4826000" cy="647700"/>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pPr>
            <a:r>
              <a:rPr sz="1600"/>
              <a:t>Replay actions, consequences, role ownership, score breakdown, and the next best drill.</a:t>
            </a:r>
          </a:p>
        </p:txBody>
      </p:sp>
      <p:sp>
        <p:nvSpPr>
          <p:cNvPr id="21" name="Content Placeholder 10">
            <a:extLst xmlns:a="http://schemas.openxmlformats.org/drawingml/2006/main">
              <a:ext uri="{FF2B5EF4-FFF2-40B4-BE49-F238E27FC236}">
                <a16:creationId xmlns:a16="http://schemas.microsoft.com/office/drawing/2014/main" id="{858787E0-CB4B-BCAC-702A-ECD3032DFC33}"/>
              </a:ext>
            </a:extLst>
          </p:cNvPr>
          <p:cNvSpPr>
            <a:spLocks xmlns:a="http://schemas.openxmlformats.org/drawingml/2006/main" noGrp="1"/>
          </p:cNvSpPr>
          <p:nvPr/>
        </p:nvSpPr>
        <p:spPr>
          <a:xfrm xmlns:a="http://schemas.openxmlformats.org/drawingml/2006/main">
            <a:off x="4851400" y="5359401"/>
            <a:ext cx="1866900" cy="647700"/>
          </a:xfrm>
          <a:prstGeom xmlns:a="http://schemas.openxmlformats.org/drawingml/2006/main" prst="rect">
            <a:avLst/>
          </a:prstGeom>
        </p:spPr>
        <p:txBody>
          <a:bodyPr xmlns:a="http://schemas.openxmlformats.org/drawingml/2006/main" vert="horz" lIns="0" tIns="0" rIns="0" bIns="0">
            <a:normAutofit fontScale="65104"/>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0000"/>
              </a:lnSpc>
              <a:spcBef>
                <a:spcPts val="1300"/>
              </a:spcBef>
              <a:spcAft>
                <a:spcPts val="1300"/>
              </a:spcAft>
              <a:buFontTx/>
              <a:buNone/>
            </a:pPr>
            <a:r>
              <a:rPr sz="1600">
                <a:solidFill>
                  <a:srgbClr val="BCEF59"/>
                </a:solidFill>
                <a:latin typeface="Inter Medium"/>
                <a:ea typeface="Inter Medium"/>
                <a:cs typeface="Inter Medium"/>
              </a:rPr>
              <a:t>04</a:t>
            </a:r>
          </a:p>
          <a:p xmlns:a="http://schemas.openxmlformats.org/drawingml/2006/main">
            <a:pPr marL="0" indent="0">
              <a:lnSpc>
                <a:spcPct val="100000"/>
              </a:lnSpc>
              <a:spcBef>
                <a:spcPts val="1300"/>
              </a:spcBef>
              <a:spcAft>
                <a:spcPts val="1300"/>
              </a:spcAft>
              <a:buFontTx/>
              <a:buNone/>
            </a:pPr>
            <a:r>
              <a:rPr sz="1600">
                <a:solidFill>
                  <a:srgbClr val="BCEF59"/>
                </a:solidFill>
                <a:latin typeface="Inter Medium"/>
                <a:ea typeface="Inter Medium"/>
                <a:cs typeface="Inter Medium"/>
              </a:rPr>
              <a:t>DEBRIEF</a:t>
            </a:r>
          </a:p>
        </p:txBody>
      </p:sp>
      <p:sp>
        <p:nvSpPr>
          <p:cNvPr id="3" name="Google Shape;534;p58">
            <a:extLst xmlns:a="http://schemas.openxmlformats.org/drawingml/2006/main">
              <a:ext uri="{FF2B5EF4-FFF2-40B4-BE49-F238E27FC236}">
                <a16:creationId xmlns:a16="http://schemas.microsoft.com/office/drawing/2014/main" id="{982CDA0F-E73C-7EBB-EE08-FECCE69C5189}"/>
              </a:ext>
            </a:extLst>
          </p:cNvPr>
          <p:cNvSpPr>
            <a:spLocks xmlns:a="http://schemas.openxmlformats.org/drawingml/2006/main" noGrp="1"/>
          </p:cNvSpPr>
          <p:nvPr/>
        </p:nvSpPr>
        <p:spPr>
          <a:xfrm xmlns:a="http://schemas.openxmlformats.org/drawingml/2006/main">
            <a:off x="393700" y="2374901"/>
            <a:ext cx="3568700" cy="3619499"/>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2000">
                <a:latin typeface="Inter Medium"/>
                <a:ea typeface="Inter Medium"/>
                <a:cs typeface="Inter Medium"/>
              </a:rPr>
              <a:t>The trainee moves from briefing to immersive action, then finishes with a reconstructable after-action review. Each step produces evidence—not just completion.</a:t>
            </a:r>
          </a:p>
        </p:txBody>
      </p:sp>
    </p:spTree>
    <p:extLst>
      <p:ext uri="{BB962C8B-B14F-4D97-AF65-F5344CB8AC3E}">
        <p14:creationId xmlns:p14="http://schemas.microsoft.com/office/powerpoint/2010/main" val="67611695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2" name="Rounded Rectangle 11">
            <a:extLst xmlns:a="http://schemas.openxmlformats.org/drawingml/2006/main">
              <a:ext uri="{FF2B5EF4-FFF2-40B4-BE49-F238E27FC236}">
                <a16:creationId xmlns:a16="http://schemas.microsoft.com/office/drawing/2014/main" id="{86FC0B29-995A-397B-C2F3-07F01F976246}"/>
              </a:ext>
            </a:extLst>
          </p:cNvPr>
          <p:cNvSpPr>
            <a:spLocks xmlns:a="http://schemas.openxmlformats.org/drawingml/2006/main" noGrp="1"/>
          </p:cNvSpPr>
          <p:nvPr/>
        </p:nvSpPr>
        <p:spPr>
          <a:xfrm xmlns:a="http://schemas.openxmlformats.org/drawingml/2006/main">
            <a:off x="7833152" y="2134181"/>
            <a:ext cx="3568700" cy="3709944"/>
          </a:xfrm>
          <a:prstGeom xmlns:a="http://schemas.openxmlformats.org/drawingml/2006/main" prst="roundRect">
            <a:avLst>
              <a:gd name="adj" fmla="val 3585"/>
            </a:avLst>
          </a:prstGeom>
          <a:solidFill xmlns:a="http://schemas.openxmlformats.org/drawingml/2006/main">
            <a:srgbClr val="284638"/>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Footer Placeholder 6">
            <a:extLst xmlns:a="http://schemas.openxmlformats.org/drawingml/2006/main">
              <a:ext uri="{FF2B5EF4-FFF2-40B4-BE49-F238E27FC236}">
                <a16:creationId xmlns:a16="http://schemas.microsoft.com/office/drawing/2014/main" id="{3AC3A10F-8642-8154-9AEA-7110D289C62E}"/>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TriageXR  •  Spatial Hack AI</a:t>
            </a:r>
            <a:endParaRPr/>
          </a:p>
        </p:txBody>
      </p:sp>
      <p:sp>
        <p:nvSpPr>
          <p:cNvPr id="4" name="Slide Number Placeholder 3">
            <a:extLst xmlns:a="http://schemas.openxmlformats.org/drawingml/2006/main">
              <a:ext uri="{FF2B5EF4-FFF2-40B4-BE49-F238E27FC236}">
                <a16:creationId xmlns:a16="http://schemas.microsoft.com/office/drawing/2014/main" id="{6BBF0163-E4B1-61D1-776D-45470B16F0F4}"/>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a:lstStyle xmlns:a="http://schemas.openxmlformats.org/drawingml/2006/main"/>
          <a:p xmlns:a="http://schemas.openxmlformats.org/drawingml/2006/main">
            <a:fld id="{5370F4AC-E6D1-01EE-6732-05F7C8E78B55}" type="slidenum">
              <a:t>05</a:t>
            </a:fld>
            <a:endParaRPr/>
          </a:p>
        </p:txBody>
      </p:sp>
      <p:sp>
        <p:nvSpPr>
          <p:cNvPr id="11" name="Title 10">
            <a:extLst xmlns:a="http://schemas.openxmlformats.org/drawingml/2006/main">
              <a:ext uri="{FF2B5EF4-FFF2-40B4-BE49-F238E27FC236}">
                <a16:creationId xmlns:a16="http://schemas.microsoft.com/office/drawing/2014/main" id="{9759E2FE-9F02-E1B4-EBBC-AA8624ACC339}"/>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lstStyle xmlns:a="http://schemas.openxmlformats.org/drawingml/2006/main"/>
          <a:p xmlns:a="http://schemas.openxmlformats.org/drawingml/2006/main">
            <a:r>
              <a:t>The demo proves perception, coordination, and learning in one loop</a:t>
            </a:r>
          </a:p>
        </p:txBody>
      </p:sp>
      <p:cxnSp>
        <p:nvCxnSpPr>
          <p:cNvPr id="29" name="Google Shape;2259;p159"/>
          <p:cNvCxnSpPr>
            <a:stCxn xmlns:a="http://schemas.openxmlformats.org/drawingml/2006/main" id="3" idx="2"/>
          </p:cNvCxnSpPr>
          <p:nvPr/>
        </p:nvCxnSpPr>
        <p:spPr>
          <a:xfrm xmlns:a="http://schemas.openxmlformats.org/drawingml/2006/main">
            <a:off x="337718" y="3373753"/>
            <a:ext cx="12245400" cy="300"/>
          </a:xfrm>
          <a:prstGeom xmlns:a="http://schemas.openxmlformats.org/drawingml/2006/main" prst="straightConnector1">
            <a:avLst/>
          </a:prstGeom>
          <a:ln xmlns:a="http://schemas.openxmlformats.org/drawingml/2006/main" w="12700" cap="flat">
            <a:solidFill>
              <a:srgbClr val="BCEF59"/>
            </a:solidFill>
            <a:prstDash val="solid"/>
            <a:round/>
            <a:headEnd type="none" w="med" len="med"/>
            <a:tailEnd type="none" w="med" len="med"/>
          </a:ln>
        </p:spPr>
      </p:cxnSp>
      <p:sp>
        <p:nvSpPr>
          <p:cNvPr id="3" name="Google Shape;2260;p159">
            <a:extLst xmlns:a="http://schemas.openxmlformats.org/drawingml/2006/main">
              <a:ext uri="{FF2B5EF4-FFF2-40B4-BE49-F238E27FC236}">
                <a16:creationId xmlns:a16="http://schemas.microsoft.com/office/drawing/2014/main" id="{39A86B1D-EA5D-3FA6-7D83-8F21D70E330E}"/>
              </a:ext>
            </a:extLst>
          </p:cNvPr>
          <p:cNvSpPr>
            <a:spLocks xmlns:a="http://schemas.openxmlformats.org/drawingml/2006/main" noGrp="1"/>
          </p:cNvSpPr>
          <p:nvPr/>
        </p:nvSpPr>
        <p:spPr>
          <a:xfrm xmlns:a="http://schemas.openxmlformats.org/drawingml/2006/main">
            <a:off x="337718" y="3320203"/>
            <a:ext cx="107100" cy="107100"/>
          </a:xfrm>
          <a:prstGeom xmlns:a="http://schemas.openxmlformats.org/drawingml/2006/main" prst="ellipse">
            <a:avLst/>
          </a:prstGeom>
          <a:solidFill xmlns:a="http://schemas.openxmlformats.org/drawingml/2006/main">
            <a:srgbClr val="BCEF59"/>
          </a:solidFill>
          <a:ln xmlns:a="http://schemas.openxmlformats.org/drawingml/2006/main">
            <a:solidFill>
              <a:srgbClr val="BCEF59"/>
            </a:solid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5" name="Google Shape;2261;p159">
            <a:extLst xmlns:a="http://schemas.openxmlformats.org/drawingml/2006/main">
              <a:ext uri="{FF2B5EF4-FFF2-40B4-BE49-F238E27FC236}">
                <a16:creationId xmlns:a16="http://schemas.microsoft.com/office/drawing/2014/main" id="{A1013DAF-A2C3-BC42-73D5-9D8AB55DCA94}"/>
              </a:ext>
            </a:extLst>
          </p:cNvPr>
          <p:cNvSpPr>
            <a:spLocks xmlns:a="http://schemas.openxmlformats.org/drawingml/2006/main" noGrp="1"/>
          </p:cNvSpPr>
          <p:nvPr/>
        </p:nvSpPr>
        <p:spPr>
          <a:xfrm xmlns:a="http://schemas.openxmlformats.org/drawingml/2006/main">
            <a:off x="4251750" y="3320203"/>
            <a:ext cx="107100" cy="107100"/>
          </a:xfrm>
          <a:prstGeom xmlns:a="http://schemas.openxmlformats.org/drawingml/2006/main" prst="ellipse">
            <a:avLst/>
          </a:prstGeom>
          <a:solidFill xmlns:a="http://schemas.openxmlformats.org/drawingml/2006/main">
            <a:srgbClr val="BCEF59"/>
          </a:solidFill>
          <a:ln xmlns:a="http://schemas.openxmlformats.org/drawingml/2006/main">
            <a:solidFill>
              <a:srgbClr val="BCEF59"/>
            </a:solid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6" name="Google Shape;2262;p159">
            <a:extLst xmlns:a="http://schemas.openxmlformats.org/drawingml/2006/main">
              <a:ext uri="{FF2B5EF4-FFF2-40B4-BE49-F238E27FC236}">
                <a16:creationId xmlns:a16="http://schemas.microsoft.com/office/drawing/2014/main" id="{4654A74A-2C40-A8C6-E9F9-43C58A3ADE20}"/>
              </a:ext>
            </a:extLst>
          </p:cNvPr>
          <p:cNvSpPr>
            <a:spLocks xmlns:a="http://schemas.openxmlformats.org/drawingml/2006/main" noGrp="1"/>
          </p:cNvSpPr>
          <p:nvPr/>
        </p:nvSpPr>
        <p:spPr>
          <a:xfrm xmlns:a="http://schemas.openxmlformats.org/drawingml/2006/main">
            <a:off x="8176050" y="3320203"/>
            <a:ext cx="107100" cy="107100"/>
          </a:xfrm>
          <a:prstGeom xmlns:a="http://schemas.openxmlformats.org/drawingml/2006/main" prst="ellipse">
            <a:avLst/>
          </a:prstGeom>
          <a:solidFill xmlns:a="http://schemas.openxmlformats.org/drawingml/2006/main">
            <a:srgbClr val="BCEF59"/>
          </a:solidFill>
          <a:ln xmlns:a="http://schemas.openxmlformats.org/drawingml/2006/main">
            <a:solidFill>
              <a:srgbClr val="BCEF59"/>
            </a:solid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None/>
            </a:pPr>
            <a:endParaRPr>
              <a:latin typeface="OpenAI Sans"/>
              <a:ea typeface="OpenAI Sans"/>
              <a:cs typeface="OpenAI Sans"/>
            </a:endParaRPr>
          </a:p>
        </p:txBody>
      </p:sp>
      <p:sp>
        <p:nvSpPr>
          <p:cNvPr id="9" name="Content Placeholder 15">
            <a:extLst xmlns:a="http://schemas.openxmlformats.org/drawingml/2006/main">
              <a:ext uri="{FF2B5EF4-FFF2-40B4-BE49-F238E27FC236}">
                <a16:creationId xmlns:a16="http://schemas.microsoft.com/office/drawing/2014/main" id="{76C75857-E8EA-1B37-0464-3C7048D7FBEB}"/>
              </a:ext>
            </a:extLst>
          </p:cNvPr>
          <p:cNvSpPr>
            <a:spLocks xmlns:a="http://schemas.openxmlformats.org/drawingml/2006/main" noGrp="1"/>
          </p:cNvSpPr>
          <p:nvPr/>
        </p:nvSpPr>
        <p:spPr>
          <a:xfrm xmlns:a="http://schemas.openxmlformats.org/drawingml/2006/main">
            <a:off x="393700" y="2843266"/>
            <a:ext cx="1612900" cy="2624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400" b="1">
                <a:solidFill>
                  <a:srgbClr val="BCEF59"/>
                </a:solidFill>
                <a:latin typeface="Inter SemiBold"/>
                <a:ea typeface="Inter SemiBold"/>
                <a:cs typeface="Inter SemiBold"/>
              </a:rPr>
              <a:t>ENTER</a:t>
            </a:r>
          </a:p>
        </p:txBody>
      </p:sp>
      <p:sp>
        <p:nvSpPr>
          <p:cNvPr id="13" name="Content Placeholder 15">
            <a:extLst xmlns:a="http://schemas.openxmlformats.org/drawingml/2006/main">
              <a:ext uri="{FF2B5EF4-FFF2-40B4-BE49-F238E27FC236}">
                <a16:creationId xmlns:a16="http://schemas.microsoft.com/office/drawing/2014/main" id="{76AEECBA-C292-6302-8A8E-7EB14A54E420}"/>
              </a:ext>
            </a:extLst>
          </p:cNvPr>
          <p:cNvSpPr>
            <a:spLocks xmlns:a="http://schemas.openxmlformats.org/drawingml/2006/main" noGrp="1"/>
          </p:cNvSpPr>
          <p:nvPr/>
        </p:nvSpPr>
        <p:spPr>
          <a:xfrm xmlns:a="http://schemas.openxmlformats.org/drawingml/2006/main">
            <a:off x="4294187" y="2843266"/>
            <a:ext cx="1612900" cy="2624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400" b="1">
                <a:solidFill>
                  <a:srgbClr val="BCEF59"/>
                </a:solidFill>
                <a:latin typeface="Inter SemiBold"/>
                <a:ea typeface="Inter SemiBold"/>
                <a:cs typeface="Inter SemiBold"/>
              </a:rPr>
              <a:t>RESPOND</a:t>
            </a:r>
          </a:p>
        </p:txBody>
      </p:sp>
      <p:sp>
        <p:nvSpPr>
          <p:cNvPr id="14" name="Content Placeholder 15">
            <a:extLst xmlns:a="http://schemas.openxmlformats.org/drawingml/2006/main">
              <a:ext uri="{FF2B5EF4-FFF2-40B4-BE49-F238E27FC236}">
                <a16:creationId xmlns:a16="http://schemas.microsoft.com/office/drawing/2014/main" id="{95982BB0-2387-9BAA-9F14-F45500C04700}"/>
              </a:ext>
            </a:extLst>
          </p:cNvPr>
          <p:cNvSpPr>
            <a:spLocks xmlns:a="http://schemas.openxmlformats.org/drawingml/2006/main" noGrp="1"/>
          </p:cNvSpPr>
          <p:nvPr/>
        </p:nvSpPr>
        <p:spPr>
          <a:xfrm xmlns:a="http://schemas.openxmlformats.org/drawingml/2006/main">
            <a:off x="8223249" y="2843266"/>
            <a:ext cx="1612900" cy="26240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228600" indent="-228600" algn="l" defTabSz="914400">
              <a:lnSpc>
                <a:spcPct val="90000"/>
              </a:lnSpc>
              <a:spcBef>
                <a:spcPts val="1000"/>
              </a:spcBef>
              <a:buFont typeface="Arial"/>
              <a:buNone/>
              <a:defRPr sz="1600" kern="1200">
                <a:solidFill>
                  <a:schemeClr val="tx1"/>
                </a:solidFill>
                <a:latin typeface="+mn-lt"/>
                <a:ea typeface="+mn-lt"/>
                <a:cs typeface="+mn-lt"/>
              </a:defRPr>
            </a:lvl1pPr>
            <a:lvl2pPr marL="685800" indent="-228600" algn="l" defTabSz="914400">
              <a:lnSpc>
                <a:spcPct val="90000"/>
              </a:lnSpc>
              <a:spcBef>
                <a:spcPts val="500"/>
              </a:spcBef>
              <a:buFont typeface="Arial"/>
              <a:buNone/>
              <a:defRPr sz="1600" kern="1200">
                <a:solidFill>
                  <a:schemeClr val="tx1"/>
                </a:solidFill>
                <a:latin typeface="+mn-lt"/>
                <a:ea typeface="+mn-lt"/>
                <a:cs typeface="+mn-lt"/>
              </a:defRPr>
            </a:lvl2pPr>
            <a:lvl3pPr marL="1143000" indent="-228600" algn="l" defTabSz="914400">
              <a:lnSpc>
                <a:spcPct val="90000"/>
              </a:lnSpc>
              <a:spcBef>
                <a:spcPts val="500"/>
              </a:spcBef>
              <a:buFont typeface="Arial"/>
              <a:buNone/>
              <a:defRPr sz="1600" kern="1200">
                <a:solidFill>
                  <a:schemeClr val="tx1"/>
                </a:solidFill>
                <a:latin typeface="+mn-lt"/>
                <a:ea typeface="+mn-lt"/>
                <a:cs typeface="+mn-lt"/>
              </a:defRPr>
            </a:lvl3pPr>
            <a:lvl4pPr marL="1600200" indent="-228600" algn="l" defTabSz="914400">
              <a:lnSpc>
                <a:spcPct val="90000"/>
              </a:lnSpc>
              <a:spcBef>
                <a:spcPts val="500"/>
              </a:spcBef>
              <a:buFont typeface="Arial"/>
              <a:buNone/>
              <a:defRPr sz="1600" kern="1200">
                <a:solidFill>
                  <a:schemeClr val="tx1"/>
                </a:solidFill>
                <a:latin typeface="+mn-lt"/>
                <a:ea typeface="+mn-lt"/>
                <a:cs typeface="+mn-lt"/>
              </a:defRPr>
            </a:lvl4pPr>
            <a:lvl5pPr marL="2057400" indent="-228600" algn="l" defTabSz="914400">
              <a:lnSpc>
                <a:spcPct val="90000"/>
              </a:lnSpc>
              <a:spcBef>
                <a:spcPts val="500"/>
              </a:spcBef>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sz="1400" b="1">
                <a:solidFill>
                  <a:srgbClr val="BCEF59"/>
                </a:solidFill>
                <a:latin typeface="Inter SemiBold"/>
                <a:ea typeface="Inter SemiBold"/>
                <a:cs typeface="Inter SemiBold"/>
              </a:rPr>
              <a:t>LEARN</a:t>
            </a:r>
          </a:p>
        </p:txBody>
      </p:sp>
      <p:sp>
        <p:nvSpPr>
          <p:cNvPr id="8" name="Text Placeholder 16">
            <a:extLst xmlns:a="http://schemas.openxmlformats.org/drawingml/2006/main">
              <a:ext uri="{FF2B5EF4-FFF2-40B4-BE49-F238E27FC236}">
                <a16:creationId xmlns:a16="http://schemas.microsoft.com/office/drawing/2014/main" id="{D0EE3B6B-F07C-271E-2F97-41D7686F1C33}"/>
              </a:ext>
            </a:extLst>
          </p:cNvPr>
          <p:cNvSpPr>
            <a:spLocks xmlns:a="http://schemas.openxmlformats.org/drawingml/2006/main" noGrp="1"/>
          </p:cNvSpPr>
          <p:nvPr/>
        </p:nvSpPr>
        <p:spPr>
          <a:xfrm xmlns:a="http://schemas.openxmlformats.org/drawingml/2006/main">
            <a:off x="4317118" y="3822700"/>
            <a:ext cx="3156125" cy="1586256"/>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600"/>
              <a:t>Verified team action</a:t>
            </a:r>
          </a:p>
          <a:p xmlns:a="http://schemas.openxmlformats.org/drawingml/2006/main">
            <a:pPr marL="0" indent="0">
              <a:lnSpc>
                <a:spcPct val="114000"/>
              </a:lnSpc>
              <a:spcBef>
                <a:spcPts val="0"/>
              </a:spcBef>
              <a:spcAft>
                <a:spcPts val="800"/>
              </a:spcAft>
              <a:buFont typeface="Arial"/>
              <a:buNone/>
            </a:pPr>
            <a:r>
              <a:rPr sz="1600"/>
              <a:t>Assess and tag three casualties while another responder sustains simulated CPR coverage.</a:t>
            </a:r>
          </a:p>
        </p:txBody>
      </p:sp>
      <p:sp>
        <p:nvSpPr>
          <p:cNvPr id="15" name="Text Placeholder 16">
            <a:extLst xmlns:a="http://schemas.openxmlformats.org/drawingml/2006/main">
              <a:ext uri="{FF2B5EF4-FFF2-40B4-BE49-F238E27FC236}">
                <a16:creationId xmlns:a16="http://schemas.microsoft.com/office/drawing/2014/main" id="{B3EA0E10-C778-6971-AFB5-9B9B52B082D5}"/>
              </a:ext>
            </a:extLst>
          </p:cNvPr>
          <p:cNvSpPr>
            <a:spLocks xmlns:a="http://schemas.openxmlformats.org/drawingml/2006/main" noGrp="1"/>
          </p:cNvSpPr>
          <p:nvPr/>
        </p:nvSpPr>
        <p:spPr>
          <a:xfrm xmlns:a="http://schemas.openxmlformats.org/drawingml/2006/main">
            <a:off x="399873" y="3822700"/>
            <a:ext cx="3156125" cy="1586256"/>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600"/>
              <a:t>Immersive scene survey</a:t>
            </a:r>
          </a:p>
          <a:p xmlns:a="http://schemas.openxmlformats.org/drawingml/2006/main">
            <a:pPr marL="0" indent="0">
              <a:lnSpc>
                <a:spcPct val="114000"/>
              </a:lnSpc>
              <a:spcBef>
                <a:spcPts val="0"/>
              </a:spcBef>
              <a:spcAft>
                <a:spcPts val="800"/>
              </a:spcAft>
              <a:buFont typeface="Arial"/>
              <a:buNone/>
            </a:pPr>
            <a:r>
              <a:rPr sz="1600"/>
              <a:t>Scan four sectors, identify the fuel hazard, and establish a safe approach.</a:t>
            </a:r>
          </a:p>
        </p:txBody>
      </p:sp>
      <p:sp>
        <p:nvSpPr>
          <p:cNvPr id="19" name="Text Placeholder 16">
            <a:extLst xmlns:a="http://schemas.openxmlformats.org/drawingml/2006/main">
              <a:ext uri="{FF2B5EF4-FFF2-40B4-BE49-F238E27FC236}">
                <a16:creationId xmlns:a16="http://schemas.microsoft.com/office/drawing/2014/main" id="{5A9F39A9-7A23-0F85-F761-1AB9FA6B8FDE}"/>
              </a:ext>
            </a:extLst>
          </p:cNvPr>
          <p:cNvSpPr>
            <a:spLocks xmlns:a="http://schemas.openxmlformats.org/drawingml/2006/main" noGrp="1"/>
          </p:cNvSpPr>
          <p:nvPr/>
        </p:nvSpPr>
        <p:spPr>
          <a:xfrm xmlns:a="http://schemas.openxmlformats.org/drawingml/2006/main">
            <a:off x="8177917" y="3822700"/>
            <a:ext cx="3156125" cy="1586256"/>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sz="1600"/>
              <a:t>Evidence replay</a:t>
            </a:r>
          </a:p>
          <a:p xmlns:a="http://schemas.openxmlformats.org/drawingml/2006/main">
            <a:pPr marL="0" indent="0">
              <a:lnSpc>
                <a:spcPct val="114000"/>
              </a:lnSpc>
              <a:spcBef>
                <a:spcPts val="0"/>
              </a:spcBef>
              <a:spcAft>
                <a:spcPts val="800"/>
              </a:spcAft>
              <a:buFont typeface="Arial"/>
              <a:buNone/>
            </a:pPr>
            <a:r>
              <a:rPr sz="1600"/>
              <a:t>Step through successful, failed, corrected, and system-generated events with causal explanations.</a:t>
            </a:r>
          </a:p>
        </p:txBody>
      </p:sp>
    </p:spTree>
    <p:extLst>
      <p:ext uri="{BB962C8B-B14F-4D97-AF65-F5344CB8AC3E}">
        <p14:creationId xmlns:p14="http://schemas.microsoft.com/office/powerpoint/2010/main" val="344633891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5" name="Footer Placeholder 4">
            <a:extLst xmlns:a="http://schemas.openxmlformats.org/drawingml/2006/main">
              <a:ext uri="{FF2B5EF4-FFF2-40B4-BE49-F238E27FC236}">
                <a16:creationId xmlns:a16="http://schemas.microsoft.com/office/drawing/2014/main" id="{3E20367F-43F2-7564-3994-7F969BF46CE8}"/>
              </a:ext>
            </a:extLst>
          </p:cNvPr>
          <p:cNvSpPr>
            <a:spLocks xmlns:a="http://schemas.openxmlformats.org/drawingml/2006/main" noGrp="1"/>
          </p:cNvSpPr>
          <p:nvPr>
            <p:ph type="ftr" idx="3"/>
          </p:nvPr>
        </p:nvSpPr>
        <p:spPr/>
        <p:txBody>
          <a:bodyPr xmlns:a="http://schemas.openxmlformats.org/drawingml/2006/main"/>
          <a:lstStyle xmlns:a="http://schemas.openxmlformats.org/drawingml/2006/main"/>
          <a:p xmlns:a="http://schemas.openxmlformats.org/drawingml/2006/main">
            <a:r>
              <a:t>TriageXR  •  Spatial Hack AI</a:t>
            </a:r>
            <a:endParaRPr/>
          </a:p>
        </p:txBody>
      </p:sp>
      <p:sp>
        <p:nvSpPr>
          <p:cNvPr id="532" name="Google Shape;532;p58">
            <a:extLst xmlns:a="http://schemas.openxmlformats.org/drawingml/2006/main">
              <a:ext uri="{FF2B5EF4-FFF2-40B4-BE49-F238E27FC236}">
                <a16:creationId xmlns:a16="http://schemas.microsoft.com/office/drawing/2014/main" id="{D4C92004-F6FC-8FE6-BAD5-82F7D96E79D7}"/>
              </a:ext>
            </a:extLst>
          </p:cNvPr>
          <p:cNvSpPr>
            <a:spLocks xmlns:a="http://schemas.openxmlformats.org/drawingml/2006/main" noGrp="1"/>
          </p:cNvSpPr>
          <p:nvPr>
            <p:ph type="sldNum" idx="4"/>
          </p:nvPr>
        </p:nvSpPr>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39BFB0FA-5DC7-50DB-D53A-0B6D0E34987E}" type="slidenum">
              <a:t>06</a:t>
            </a:fld>
            <a:endParaRPr/>
          </a:p>
        </p:txBody>
      </p:sp>
      <p:sp>
        <p:nvSpPr>
          <p:cNvPr id="533" name="Google Shape;533;p58">
            <a:extLst xmlns:a="http://schemas.openxmlformats.org/drawingml/2006/main">
              <a:ext uri="{FF2B5EF4-FFF2-40B4-BE49-F238E27FC236}">
                <a16:creationId xmlns:a16="http://schemas.microsoft.com/office/drawing/2014/main" id="{3A80AAE9-99DA-415B-48E5-DF2948540391}"/>
              </a:ext>
            </a:extLst>
          </p:cNvPr>
          <p:cNvSpPr>
            <a:spLocks xmlns:a="http://schemas.openxmlformats.org/drawingml/2006/main" noGrp="1"/>
          </p:cNvSpPr>
          <p:nvPr>
            <p:ph type="title" idx="0"/>
          </p:nvPr>
        </p:nvSpPr>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Triage logic must be visible—and revisited</a:t>
            </a:r>
          </a:p>
        </p:txBody>
      </p:sp>
      <p:sp>
        <p:nvSpPr>
          <p:cNvPr id="2" name="Google Shape;534;p58">
            <a:extLst xmlns:a="http://schemas.openxmlformats.org/drawingml/2006/main">
              <a:ext uri="{FF2B5EF4-FFF2-40B4-BE49-F238E27FC236}">
                <a16:creationId xmlns:a16="http://schemas.microsoft.com/office/drawing/2014/main" id="{D4EE2969-B7C7-0C70-E299-B866E67DBC36}"/>
              </a:ext>
            </a:extLst>
          </p:cNvPr>
          <p:cNvSpPr>
            <a:spLocks xmlns:a="http://schemas.openxmlformats.org/drawingml/2006/main" noGrp="1"/>
          </p:cNvSpPr>
          <p:nvPr/>
        </p:nvSpPr>
        <p:spPr>
          <a:xfrm xmlns:a="http://schemas.openxmlformats.org/drawingml/2006/main">
            <a:off x="393700" y="1684867"/>
            <a:ext cx="5537200" cy="1744133"/>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a:solidFill>
                  <a:srgbClr val="BCEF59"/>
                </a:solidFill>
                <a:latin typeface="Inter"/>
                <a:ea typeface="Inter"/>
                <a:cs typeface="Inter"/>
              </a:rPr>
              <a:t>A structured decision path</a:t>
            </a:r>
          </a:p>
          <a:p xmlns:a="http://schemas.openxmlformats.org/drawingml/2006/main">
            <a:pPr marL="0" indent="0">
              <a:lnSpc>
                <a:spcPct val="114000"/>
              </a:lnSpc>
              <a:spcBef>
                <a:spcPts val="0"/>
              </a:spcBef>
              <a:spcAft>
                <a:spcPts val="800"/>
              </a:spcAft>
              <a:buFont typeface="Arial"/>
              <a:buNone/>
            </a:pPr>
            <a:r>
              <a:rPr sz="1700">
                <a:latin typeface="Inter"/>
                <a:ea typeface="Inter"/>
                <a:cs typeface="Inter"/>
              </a:rPr>
              <a:t>The experience mirrors adult triage reasoning: mobility, breathing, perfusion, response, catastrophic bleeding, and priority assignment.</a:t>
            </a:r>
          </a:p>
        </p:txBody>
      </p:sp>
      <p:sp>
        <p:nvSpPr>
          <p:cNvPr id="3" name="Google Shape;534;p58">
            <a:extLst xmlns:a="http://schemas.openxmlformats.org/drawingml/2006/main">
              <a:ext uri="{FF2B5EF4-FFF2-40B4-BE49-F238E27FC236}">
                <a16:creationId xmlns:a16="http://schemas.microsoft.com/office/drawing/2014/main" id="{72A34455-41AC-E436-D08C-DBCA262EF4C8}"/>
              </a:ext>
            </a:extLst>
          </p:cNvPr>
          <p:cNvSpPr>
            <a:spLocks xmlns:a="http://schemas.openxmlformats.org/drawingml/2006/main" noGrp="1"/>
          </p:cNvSpPr>
          <p:nvPr/>
        </p:nvSpPr>
        <p:spPr>
          <a:xfrm xmlns:a="http://schemas.openxmlformats.org/drawingml/2006/main">
            <a:off x="393700" y="3855855"/>
            <a:ext cx="5537200" cy="1744133"/>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pPr>
            <a:r>
              <a:rPr>
                <a:solidFill>
                  <a:srgbClr val="BCEF59"/>
                </a:solidFill>
                <a:latin typeface="Inter"/>
                <a:ea typeface="Inter"/>
                <a:cs typeface="Inter"/>
              </a:rPr>
              <a:t>Reassessment changes the answer</a:t>
            </a:r>
          </a:p>
          <a:p xmlns:a="http://schemas.openxmlformats.org/drawingml/2006/main">
            <a:pPr marL="0" indent="0">
              <a:lnSpc>
                <a:spcPct val="114000"/>
              </a:lnSpc>
              <a:spcBef>
                <a:spcPts val="0"/>
              </a:spcBef>
              <a:spcAft>
                <a:spcPts val="800"/>
              </a:spcAft>
              <a:buFont typeface="Arial"/>
              <a:buNone/>
            </a:pPr>
            <a:r>
              <a:rPr sz="1700">
                <a:latin typeface="Inter"/>
                <a:ea typeface="Inter"/>
                <a:cs typeface="Inter"/>
              </a:rPr>
              <a:t>Jordan’s untreated cardiac arrest progresses over time. The learner must respond to new evidence—not memorise a static label.</a:t>
            </a:r>
          </a:p>
        </p:txBody>
      </p:sp>
      <p:pic>
        <p:nvPicPr>
          <p:cNvPr id="541" name=""/>
          <p:cNvPicPr>
            <a:picLocks xmlns:a="http://schemas.openxmlformats.org/drawingml/2006/main" noChangeAspect="1"/>
          </p:cNvPicPr>
          <p:nvPr/>
        </p:nvPicPr>
        <p:blipFill>
          <a:blip xmlns:r="http://schemas.openxmlformats.org/officeDocument/2006/relationships" xmlns:a="http://schemas.openxmlformats.org/drawingml/2006/main" r:embed="Ra1b8b7ccfdb0478a"/>
          <a:srcRect xmlns:a="http://schemas.openxmlformats.org/drawingml/2006/main" l="5428" t="29168" r="0" b="23013"/>
          <a:stretch xmlns:a="http://schemas.openxmlformats.org/drawingml/2006/main"/>
        </p:blipFill>
        <p:spPr>
          <a:xfrm xmlns:a="http://schemas.openxmlformats.org/drawingml/2006/main">
            <a:off x="6269040" y="396409"/>
            <a:ext cx="5539740" cy="5602070"/>
          </a:xfrm>
          <a:prstGeom xmlns:a="http://schemas.openxmlformats.org/drawingml/2006/main" prst="roundRect">
            <a:avLst/>
          </a:prstGeom>
        </p:spPr>
      </p:pic>
    </p:spTree>
    <p:extLst>
      <p:ext uri="{BB962C8B-B14F-4D97-AF65-F5344CB8AC3E}">
        <p14:creationId xmlns:p14="http://schemas.microsoft.com/office/powerpoint/2010/main" val="3245670770"/>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6" name="Footer Placeholder 5">
            <a:extLst xmlns:a="http://schemas.openxmlformats.org/drawingml/2006/main">
              <a:ext uri="{FF2B5EF4-FFF2-40B4-BE49-F238E27FC236}">
                <a16:creationId xmlns:a16="http://schemas.microsoft.com/office/drawing/2014/main" id="{E79D819C-33DB-D779-0CC9-74786C7AA643}"/>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TriageXR  •  Spatial Hack AI</a:t>
            </a:r>
            <a:endParaRPr/>
          </a:p>
        </p:txBody>
      </p:sp>
      <p:sp>
        <p:nvSpPr>
          <p:cNvPr id="2" name="Slide Number Placeholder 1">
            <a:extLst xmlns:a="http://schemas.openxmlformats.org/drawingml/2006/main">
              <a:ext uri="{FF2B5EF4-FFF2-40B4-BE49-F238E27FC236}">
                <a16:creationId xmlns:a16="http://schemas.microsoft.com/office/drawing/2014/main" id="{6B79DB2A-CC47-00B8-FE1C-26473E47EA9C}"/>
              </a:ext>
            </a:extLst>
          </p:cNvPr>
          <p:cNvSpPr>
            <a:spLocks xmlns:a="http://schemas.openxmlformats.org/drawingml/2006/main" noGrp="1"/>
          </p:cNvSpPr>
          <p:nvPr>
            <p:ph type="sldNum" idx="4"/>
          </p:nvPr>
        </p:nvSpPr>
        <p:spPr>
          <a:xfrm xmlns:a="http://schemas.openxmlformats.org/drawingml/2006/main">
            <a:off x="11279188" y="6278563"/>
            <a:ext cx="519112" cy="241300"/>
          </a:xfrm>
        </p:spPr>
        <p:txBody>
          <a:bodyPr xmlns:a="http://schemas.openxmlformats.org/drawingml/2006/main"/>
          <a:lstStyle xmlns:a="http://schemas.openxmlformats.org/drawingml/2006/main"/>
          <a:p xmlns:a="http://schemas.openxmlformats.org/drawingml/2006/main">
            <a:fld id="{C1C5B3A8-B30B-D205-8921-516C108AB9AB}" type="slidenum">
              <a:t>07</a:t>
            </a:fld>
            <a:endParaRPr/>
          </a:p>
        </p:txBody>
      </p:sp>
      <p:sp>
        <p:nvSpPr>
          <p:cNvPr id="3" name="Title 2">
            <a:extLst xmlns:a="http://schemas.openxmlformats.org/drawingml/2006/main">
              <a:ext uri="{FF2B5EF4-FFF2-40B4-BE49-F238E27FC236}">
                <a16:creationId xmlns:a16="http://schemas.microsoft.com/office/drawing/2014/main" id="{89BFFB18-4CB5-6BE2-9B1E-49B4101293F1}"/>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a:lstStyle xmlns:a="http://schemas.openxmlformats.org/drawingml/2006/main"/>
          <a:p xmlns:a="http://schemas.openxmlformats.org/drawingml/2006/main">
            <a:r>
              <a:t>Built beyond a simulation: TriageXR measures how teams think</a:t>
            </a:r>
          </a:p>
        </p:txBody>
      </p:sp>
      <p:sp>
        <p:nvSpPr>
          <p:cNvPr id="10" name="Content Placeholder 9">
            <a:extLst xmlns:a="http://schemas.openxmlformats.org/drawingml/2006/main">
              <a:ext uri="{FF2B5EF4-FFF2-40B4-BE49-F238E27FC236}">
                <a16:creationId xmlns:a16="http://schemas.microsoft.com/office/drawing/2014/main" id="{40C911A7-2999-5B10-850F-7785C571AE51}"/>
              </a:ext>
            </a:extLst>
          </p:cNvPr>
          <p:cNvSpPr>
            <a:spLocks xmlns:a="http://schemas.openxmlformats.org/drawingml/2006/main" noGrp="1"/>
          </p:cNvSpPr>
          <p:nvPr>
            <p:ph idx="4294967295"/>
          </p:nvPr>
        </p:nvSpPr>
        <p:spPr>
          <a:xfrm xmlns:a="http://schemas.openxmlformats.org/drawingml/2006/main">
            <a:off x="393700" y="2032000"/>
            <a:ext cx="5537200" cy="1643063"/>
          </a:xfrm>
        </p:spPr>
        <p:txBody>
          <a:bodyPr xmlns:a="http://schemas.openxmlformats.org/drawingml/2006/main"/>
          <a:lstStyle xmlns:a="http://schemas.openxmlformats.org/drawingml/2006/main"/>
          <a:p xmlns:a="http://schemas.openxmlformats.org/drawingml/2006/main">
            <a:pPr marL="0" marR="0" lvl="0" indent="0">
              <a:lnSpc>
                <a:spcPct val="114000"/>
              </a:lnSpc>
              <a:spcBef>
                <a:spcPts val="0"/>
              </a:spcBef>
              <a:spcAft>
                <a:spcPts val="800"/>
              </a:spcAft>
              <a:buClrTx/>
              <a:buSzTx/>
              <a:buNone/>
            </a:pPr>
            <a:r>
              <a:rPr>
                <a:solidFill>
                  <a:srgbClr val="BCEF59"/>
                </a:solidFill>
              </a:rPr>
              <a:t>Verified spatial assessment</a:t>
            </a:r>
          </a:p>
          <a:p xmlns:a="http://schemas.openxmlformats.org/drawingml/2006/main">
            <a:pPr marL="0" marR="0" lvl="0" indent="0" algn="l" defTabSz="914400">
              <a:lnSpc>
                <a:spcPct val="100000"/>
              </a:lnSpc>
              <a:spcBef>
                <a:spcPts val="1300"/>
              </a:spcBef>
              <a:spcAft>
                <a:spcPts val="1300"/>
              </a:spcAft>
              <a:buClrTx/>
              <a:buSzTx/>
              <a:buFontTx/>
              <a:buNone/>
            </a:pPr>
            <a:r>
              <a:rPr sz="1800" b="0" i="0" u="none" cap="none">
                <a:ln>
                  <a:noFill/>
                </a:ln>
              </a:rPr>
              <a:t>ARKit confirms sustained reach and hand poses at casualty-specific 3D targets.</a:t>
            </a:r>
          </a:p>
        </p:txBody>
      </p:sp>
      <p:sp>
        <p:nvSpPr>
          <p:cNvPr id="11" name="Content Placeholder 10">
            <a:extLst xmlns:a="http://schemas.openxmlformats.org/drawingml/2006/main">
              <a:ext uri="{FF2B5EF4-FFF2-40B4-BE49-F238E27FC236}">
                <a16:creationId xmlns:a16="http://schemas.microsoft.com/office/drawing/2014/main" id="{9591DE77-626F-6364-307D-6A3CECC3E0AC}"/>
              </a:ext>
            </a:extLst>
          </p:cNvPr>
          <p:cNvSpPr>
            <a:spLocks xmlns:a="http://schemas.openxmlformats.org/drawingml/2006/main" noGrp="1"/>
          </p:cNvSpPr>
          <p:nvPr>
            <p:ph idx="4294967295"/>
          </p:nvPr>
        </p:nvSpPr>
        <p:spPr>
          <a:xfrm xmlns:a="http://schemas.openxmlformats.org/drawingml/2006/main">
            <a:off x="6256618" y="2032000"/>
            <a:ext cx="5537200" cy="1643063"/>
          </a:xfrm>
        </p:spPr>
        <p:txBody>
          <a:bodyPr xmlns:a="http://schemas.openxmlformats.org/drawingml/2006/main"/>
          <a:lstStyle xmlns:a="http://schemas.openxmlformats.org/drawingml/2006/main"/>
          <a:p xmlns:a="http://schemas.openxmlformats.org/drawingml/2006/main">
            <a:pPr marL="0" marR="0" lvl="0" indent="0">
              <a:lnSpc>
                <a:spcPct val="114000"/>
              </a:lnSpc>
              <a:spcBef>
                <a:spcPts val="0"/>
              </a:spcBef>
              <a:spcAft>
                <a:spcPts val="800"/>
              </a:spcAft>
              <a:buClrTx/>
              <a:buSzTx/>
              <a:buNone/>
            </a:pPr>
            <a:r>
              <a:rPr>
                <a:solidFill>
                  <a:srgbClr val="BCEF59"/>
                </a:solidFill>
              </a:rPr>
              <a:t>Collaborative incident command</a:t>
            </a:r>
          </a:p>
          <a:p xmlns:a="http://schemas.openxmlformats.org/drawingml/2006/main">
            <a:pPr marL="0" marR="0" lvl="0" indent="0" algn="l" defTabSz="914400">
              <a:lnSpc>
                <a:spcPct val="100000"/>
              </a:lnSpc>
              <a:spcBef>
                <a:spcPts val="1300"/>
              </a:spcBef>
              <a:spcAft>
                <a:spcPts val="1300"/>
              </a:spcAft>
              <a:buClrTx/>
              <a:buSzTx/>
              <a:buFontTx/>
              <a:buNone/>
            </a:pPr>
            <a:r>
              <a:rPr sz="1800" b="0" i="0" u="none" cap="none">
                <a:ln>
                  <a:noFill/>
                </a:ln>
              </a:rPr>
              <a:t>SharePlay synchronises a host-authoritative scene with role permissions and shared spatial placement.</a:t>
            </a:r>
          </a:p>
        </p:txBody>
      </p:sp>
      <p:sp>
        <p:nvSpPr>
          <p:cNvPr id="4" name="Content Placeholder 9">
            <a:extLst xmlns:a="http://schemas.openxmlformats.org/drawingml/2006/main">
              <a:ext uri="{FF2B5EF4-FFF2-40B4-BE49-F238E27FC236}">
                <a16:creationId xmlns:a16="http://schemas.microsoft.com/office/drawing/2014/main" id="{5FBFFE27-6CE4-D49E-8371-7F40817D25C4}"/>
              </a:ext>
            </a:extLst>
          </p:cNvPr>
          <p:cNvSpPr>
            <a:spLocks xmlns:a="http://schemas.openxmlformats.org/drawingml/2006/main" noGrp="1"/>
          </p:cNvSpPr>
          <p:nvPr/>
        </p:nvSpPr>
        <p:spPr>
          <a:xfrm xmlns:a="http://schemas.openxmlformats.org/drawingml/2006/main">
            <a:off x="393700" y="4016975"/>
            <a:ext cx="5537200" cy="1643185"/>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a:solidFill>
                  <a:srgbClr val="BCEF59"/>
                </a:solidFill>
              </a:rPr>
              <a:t>Causal evidence replay</a:t>
            </a:r>
          </a:p>
          <a:p xmlns:a="http://schemas.openxmlformats.org/drawingml/2006/main">
            <a:pPr marL="0" indent="0">
              <a:lnSpc>
                <a:spcPct val="100000"/>
              </a:lnSpc>
              <a:spcBef>
                <a:spcPts val="1300"/>
              </a:spcBef>
              <a:spcAft>
                <a:spcPts val="1300"/>
              </a:spcAft>
              <a:buFontTx/>
              <a:buNone/>
            </a:pPr>
            <a:r>
              <a:rPr sz="1800"/>
              <a:t>Every material action records the cue, actor, outcome, consequence, and spatial snapshot.</a:t>
            </a:r>
          </a:p>
        </p:txBody>
      </p:sp>
      <p:sp>
        <p:nvSpPr>
          <p:cNvPr id="5" name="Content Placeholder 10">
            <a:extLst xmlns:a="http://schemas.openxmlformats.org/drawingml/2006/main">
              <a:ext uri="{FF2B5EF4-FFF2-40B4-BE49-F238E27FC236}">
                <a16:creationId xmlns:a16="http://schemas.microsoft.com/office/drawing/2014/main" id="{D6F50C40-7DBA-55A3-751E-00E97654E163}"/>
              </a:ext>
            </a:extLst>
          </p:cNvPr>
          <p:cNvSpPr>
            <a:spLocks xmlns:a="http://schemas.openxmlformats.org/drawingml/2006/main" noGrp="1"/>
          </p:cNvSpPr>
          <p:nvPr/>
        </p:nvSpPr>
        <p:spPr>
          <a:xfrm xmlns:a="http://schemas.openxmlformats.org/drawingml/2006/main">
            <a:off x="6256618" y="4016975"/>
            <a:ext cx="5537200" cy="1643185"/>
          </a:xfrm>
          <a:prstGeom xmlns:a="http://schemas.openxmlformats.org/drawingml/2006/main" prst="rect">
            <a:avLst/>
          </a:prstGeom>
        </p:spPr>
        <p:txBody>
          <a:bodyPr xmlns:a="http://schemas.openxmlformats.org/drawingml/2006/main" vert="horz" lIns="0" tIns="0" rIns="0" bIns="0">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None/>
            </a:pPr>
            <a:r>
              <a:rPr>
                <a:solidFill>
                  <a:srgbClr val="BCEF59"/>
                </a:solidFill>
              </a:rPr>
              <a:t>Grounded AI coaching</a:t>
            </a:r>
          </a:p>
          <a:p xmlns:a="http://schemas.openxmlformats.org/drawingml/2006/main">
            <a:pPr marL="0" indent="0">
              <a:lnSpc>
                <a:spcPct val="100000"/>
              </a:lnSpc>
              <a:spcBef>
                <a:spcPts val="1300"/>
              </a:spcBef>
              <a:spcAft>
                <a:spcPts val="1300"/>
              </a:spcAft>
              <a:buFontTx/>
              <a:buNone/>
            </a:pPr>
            <a:r>
              <a:rPr sz="1800"/>
              <a:t>The AI can only cite verified replay event IDs; it never changes the deterministic score.</a:t>
            </a:r>
          </a:p>
        </p:txBody>
      </p:sp>
    </p:spTree>
    <p:extLst>
      <p:ext uri="{BB962C8B-B14F-4D97-AF65-F5344CB8AC3E}">
        <p14:creationId xmlns:p14="http://schemas.microsoft.com/office/powerpoint/2010/main" val="36014548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6" name="Rounded Rectangle 5">
            <a:extLst xmlns:a="http://schemas.openxmlformats.org/drawingml/2006/main">
              <a:ext uri="{FF2B5EF4-FFF2-40B4-BE49-F238E27FC236}">
                <a16:creationId xmlns:a16="http://schemas.microsoft.com/office/drawing/2014/main" id="{3595FF69-AA88-8653-2D13-3E0289A12A44}"/>
              </a:ext>
            </a:extLst>
          </p:cNvPr>
          <p:cNvSpPr>
            <a:spLocks xmlns:a="http://schemas.openxmlformats.org/drawingml/2006/main" noGrp="1"/>
          </p:cNvSpPr>
          <p:nvPr/>
        </p:nvSpPr>
        <p:spPr>
          <a:xfrm xmlns:a="http://schemas.openxmlformats.org/drawingml/2006/main">
            <a:off x="393700" y="3022600"/>
            <a:ext cx="3568700" cy="2971800"/>
          </a:xfrm>
          <a:prstGeom xmlns:a="http://schemas.openxmlformats.org/drawingml/2006/main" prst="roundRect">
            <a:avLst>
              <a:gd name="adj" fmla="val 3585"/>
            </a:avLst>
          </a:prstGeom>
          <a:solidFill xmlns:a="http://schemas.openxmlformats.org/drawingml/2006/main">
            <a:srgbClr val="284638"/>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ounded Rectangle 6">
            <a:extLst xmlns:a="http://schemas.openxmlformats.org/drawingml/2006/main">
              <a:ext uri="{FF2B5EF4-FFF2-40B4-BE49-F238E27FC236}">
                <a16:creationId xmlns:a16="http://schemas.microsoft.com/office/drawing/2014/main" id="{E3AFD29D-9AD2-841D-0915-B4BDDC09C0B7}"/>
              </a:ext>
            </a:extLst>
          </p:cNvPr>
          <p:cNvSpPr>
            <a:spLocks xmlns:a="http://schemas.openxmlformats.org/drawingml/2006/main" noGrp="1"/>
          </p:cNvSpPr>
          <p:nvPr/>
        </p:nvSpPr>
        <p:spPr>
          <a:xfrm xmlns:a="http://schemas.openxmlformats.org/drawingml/2006/main">
            <a:off x="4311650" y="3022600"/>
            <a:ext cx="3568700" cy="2971800"/>
          </a:xfrm>
          <a:prstGeom xmlns:a="http://schemas.openxmlformats.org/drawingml/2006/main" prst="roundRect">
            <a:avLst>
              <a:gd name="adj" fmla="val 3585"/>
            </a:avLst>
          </a:prstGeom>
          <a:solidFill xmlns:a="http://schemas.openxmlformats.org/drawingml/2006/main">
            <a:srgbClr val="284638"/>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Rounded Rectangle 7">
            <a:extLst xmlns:a="http://schemas.openxmlformats.org/drawingml/2006/main">
              <a:ext uri="{FF2B5EF4-FFF2-40B4-BE49-F238E27FC236}">
                <a16:creationId xmlns:a16="http://schemas.microsoft.com/office/drawing/2014/main" id="{7A10D6BE-4B8A-E31D-9AC6-AEB4FCD518B2}"/>
              </a:ext>
            </a:extLst>
          </p:cNvPr>
          <p:cNvSpPr>
            <a:spLocks xmlns:a="http://schemas.openxmlformats.org/drawingml/2006/main" noGrp="1"/>
          </p:cNvSpPr>
          <p:nvPr/>
        </p:nvSpPr>
        <p:spPr>
          <a:xfrm xmlns:a="http://schemas.openxmlformats.org/drawingml/2006/main">
            <a:off x="8232297" y="3022600"/>
            <a:ext cx="3568700" cy="2971800"/>
          </a:xfrm>
          <a:prstGeom xmlns:a="http://schemas.openxmlformats.org/drawingml/2006/main" prst="roundRect">
            <a:avLst>
              <a:gd name="adj" fmla="val 3585"/>
            </a:avLst>
          </a:prstGeom>
          <a:solidFill xmlns:a="http://schemas.openxmlformats.org/drawingml/2006/main">
            <a:srgbClr val="284638"/>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 name="Slide Number Placeholder 1">
            <a:extLst xmlns:a="http://schemas.openxmlformats.org/drawingml/2006/main">
              <a:ext uri="{FF2B5EF4-FFF2-40B4-BE49-F238E27FC236}">
                <a16:creationId xmlns:a16="http://schemas.microsoft.com/office/drawing/2014/main" id="{908090F4-C2CE-1329-8725-AC98A6AF8F60}"/>
              </a:ext>
            </a:extLst>
          </p:cNvPr>
          <p:cNvSpPr>
            <a:spLocks xmlns:a="http://schemas.openxmlformats.org/drawingml/2006/main" noGrp="1"/>
          </p:cNvSpPr>
          <p:nvPr>
            <p:ph type="sldNum" idx="4"/>
          </p:nvPr>
        </p:nvSpPr>
        <p:spPr/>
        <p:txBody>
          <a:bodyPr xmlns:a="http://schemas.openxmlformats.org/drawingml/2006/main"/>
          <a:lstStyle xmlns:a="http://schemas.openxmlformats.org/drawingml/2006/main"/>
          <a:p xmlns:a="http://schemas.openxmlformats.org/drawingml/2006/main">
            <a:fld id="{22E54B70-3376-18BE-56BD-5BB8BA701776}" type="slidenum">
              <a:t>08</a:t>
            </a:fld>
            <a:endParaRPr/>
          </a:p>
        </p:txBody>
      </p:sp>
      <p:sp>
        <p:nvSpPr>
          <p:cNvPr id="3" name="Title 2">
            <a:extLst xmlns:a="http://schemas.openxmlformats.org/drawingml/2006/main">
              <a:ext uri="{FF2B5EF4-FFF2-40B4-BE49-F238E27FC236}">
                <a16:creationId xmlns:a16="http://schemas.microsoft.com/office/drawing/2014/main" id="{B64EBD68-6C7C-E1E5-F754-A2CABD28D4B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The hackathon build already delivers the full training loop</a:t>
            </a:r>
            <a:endParaRPr/>
          </a:p>
        </p:txBody>
      </p:sp>
      <p:sp>
        <p:nvSpPr>
          <p:cNvPr id="10" name="Content Placeholder 9">
            <a:extLst xmlns:a="http://schemas.openxmlformats.org/drawingml/2006/main">
              <a:ext uri="{FF2B5EF4-FFF2-40B4-BE49-F238E27FC236}">
                <a16:creationId xmlns:a16="http://schemas.microsoft.com/office/drawing/2014/main" id="{E8352425-466B-B7C0-4556-B12F3F4F6DB3}"/>
              </a:ext>
            </a:extLst>
          </p:cNvPr>
          <p:cNvSpPr>
            <a:spLocks xmlns:a="http://schemas.openxmlformats.org/drawingml/2006/main" noGrp="1"/>
          </p:cNvSpPr>
          <p:nvPr>
            <p:ph idx="4294967295"/>
          </p:nvPr>
        </p:nvSpPr>
        <p:spPr>
          <a:xfrm xmlns:a="http://schemas.openxmlformats.org/drawingml/2006/main">
            <a:off x="702413" y="4900613"/>
            <a:ext cx="2949575" cy="819150"/>
          </a:xfrm>
        </p:spPr>
        <p:txBody>
          <a:bodyPr xmlns:a="http://schemas.openxmlformats.org/drawingml/2006/main">
            <a:normAutofit fontScale="100000"/>
          </a:bodyPr>
          <a:lstStyle xmlns:a="http://schemas.openxmlformats.org/drawingml/2006/main"/>
          <a:p xmlns:a="http://schemas.openxmlformats.org/drawingml/2006/main">
            <a:pPr marL="0" marR="0" lvl="0" indent="0" algn="l" defTabSz="914400">
              <a:lnSpc>
                <a:spcPct val="100000"/>
              </a:lnSpc>
              <a:spcBef>
                <a:spcPts val="1300"/>
              </a:spcBef>
              <a:spcAft>
                <a:spcPts val="1300"/>
              </a:spcAft>
              <a:buClrTx/>
              <a:buSzTx/>
              <a:buFontTx/>
              <a:buNone/>
            </a:pPr>
            <a:r>
              <a:rPr sz="1600" b="0" i="0" u="none" cap="none">
                <a:ln>
                  <a:noFill/>
                </a:ln>
                <a:latin typeface="Helvetica Neue"/>
                <a:ea typeface="Helvetica Neue"/>
                <a:cs typeface="Helvetica Neue"/>
              </a:rPr>
              <a:t>spatial survey sectors must be inspected</a:t>
            </a:r>
          </a:p>
        </p:txBody>
      </p:sp>
      <p:sp>
        <p:nvSpPr>
          <p:cNvPr id="11" name="Content Placeholder 10">
            <a:extLst xmlns:a="http://schemas.openxmlformats.org/drawingml/2006/main">
              <a:ext uri="{FF2B5EF4-FFF2-40B4-BE49-F238E27FC236}">
                <a16:creationId xmlns:a16="http://schemas.microsoft.com/office/drawing/2014/main" id="{9D1B4876-C319-B371-36B9-745CADB662E1}"/>
              </a:ext>
            </a:extLst>
          </p:cNvPr>
          <p:cNvSpPr>
            <a:spLocks xmlns:a="http://schemas.openxmlformats.org/drawingml/2006/main" noGrp="1"/>
          </p:cNvSpPr>
          <p:nvPr>
            <p:ph idx="4294967295"/>
          </p:nvPr>
        </p:nvSpPr>
        <p:spPr>
          <a:xfrm xmlns:a="http://schemas.openxmlformats.org/drawingml/2006/main">
            <a:off x="8541859" y="4900613"/>
            <a:ext cx="2949575" cy="819150"/>
          </a:xfrm>
        </p:spPr>
        <p:txBody>
          <a:bodyPr xmlns:a="http://schemas.openxmlformats.org/drawingml/2006/main">
            <a:normAutofit fontScale="100000"/>
          </a:bodyPr>
          <a:lstStyle xmlns:a="http://schemas.openxmlformats.org/drawingml/2006/main"/>
          <a:p xmlns:a="http://schemas.openxmlformats.org/drawingml/2006/main">
            <a:pPr marL="0" marR="0" lvl="0" indent="0" algn="l" defTabSz="914400">
              <a:lnSpc>
                <a:spcPct val="100000"/>
              </a:lnSpc>
              <a:spcBef>
                <a:spcPts val="1300"/>
              </a:spcBef>
              <a:spcAft>
                <a:spcPts val="1300"/>
              </a:spcAft>
              <a:buClrTx/>
              <a:buSzTx/>
              <a:buFontTx/>
              <a:buNone/>
            </a:pPr>
            <a:r>
              <a:rPr sz="1600" b="0" i="0" u="none" cap="none">
                <a:ln>
                  <a:noFill/>
                </a:ln>
                <a:latin typeface="Helvetica Neue"/>
                <a:ea typeface="Helvetica Neue"/>
                <a:cs typeface="Helvetica Neue"/>
              </a:rPr>
              <a:t>point deterministic score across five domains</a:t>
            </a:r>
          </a:p>
        </p:txBody>
      </p:sp>
      <p:sp>
        <p:nvSpPr>
          <p:cNvPr id="12" name="Content Placeholder 11">
            <a:extLst xmlns:a="http://schemas.openxmlformats.org/drawingml/2006/main">
              <a:ext uri="{FF2B5EF4-FFF2-40B4-BE49-F238E27FC236}">
                <a16:creationId xmlns:a16="http://schemas.microsoft.com/office/drawing/2014/main" id="{1BDFAF15-9B61-BA2E-0381-0DE8F578A81F}"/>
              </a:ext>
            </a:extLst>
          </p:cNvPr>
          <p:cNvSpPr>
            <a:spLocks xmlns:a="http://schemas.openxmlformats.org/drawingml/2006/main" noGrp="1"/>
          </p:cNvSpPr>
          <p:nvPr>
            <p:ph idx="4294967295"/>
          </p:nvPr>
        </p:nvSpPr>
        <p:spPr>
          <a:xfrm xmlns:a="http://schemas.openxmlformats.org/drawingml/2006/main">
            <a:off x="4621211" y="4900613"/>
            <a:ext cx="2949575" cy="819150"/>
          </a:xfrm>
        </p:spPr>
        <p:txBody>
          <a:bodyPr xmlns:a="http://schemas.openxmlformats.org/drawingml/2006/main">
            <a:normAutofit fontScale="100000"/>
          </a:bodyPr>
          <a:lstStyle xmlns:a="http://schemas.openxmlformats.org/drawingml/2006/main"/>
          <a:p xmlns:a="http://schemas.openxmlformats.org/drawingml/2006/main">
            <a:pPr marL="0" marR="0" lvl="0" indent="0" algn="l" defTabSz="914400">
              <a:lnSpc>
                <a:spcPct val="100000"/>
              </a:lnSpc>
              <a:spcBef>
                <a:spcPts val="1300"/>
              </a:spcBef>
              <a:spcAft>
                <a:spcPts val="1300"/>
              </a:spcAft>
              <a:buClrTx/>
              <a:buSzTx/>
              <a:buFontTx/>
              <a:buNone/>
            </a:pPr>
            <a:r>
              <a:rPr sz="1600" b="0" i="0" u="none" cap="none">
                <a:ln>
                  <a:noFill/>
                </a:ln>
                <a:latin typeface="Helvetica Neue"/>
                <a:ea typeface="Helvetica Neue"/>
                <a:cs typeface="Helvetica Neue"/>
              </a:rPr>
              <a:t>casualties with distinct, changing evidence</a:t>
            </a:r>
          </a:p>
        </p:txBody>
      </p:sp>
      <p:sp>
        <p:nvSpPr>
          <p:cNvPr id="13" name="Content Placeholder 9">
            <a:extLst xmlns:a="http://schemas.openxmlformats.org/drawingml/2006/main">
              <a:ext uri="{FF2B5EF4-FFF2-40B4-BE49-F238E27FC236}">
                <a16:creationId xmlns:a16="http://schemas.microsoft.com/office/drawing/2014/main" id="{EDBA9068-3E52-4988-B608-4CED930E45CC}"/>
              </a:ext>
            </a:extLst>
          </p:cNvPr>
          <p:cNvSpPr>
            <a:spLocks xmlns:a="http://schemas.openxmlformats.org/drawingml/2006/main" noGrp="1"/>
          </p:cNvSpPr>
          <p:nvPr/>
        </p:nvSpPr>
        <p:spPr>
          <a:xfrm xmlns:a="http://schemas.openxmlformats.org/drawingml/2006/main">
            <a:off x="702413" y="3429000"/>
            <a:ext cx="2940124" cy="1359356"/>
          </a:xfrm>
          <a:prstGeom xmlns:a="http://schemas.openxmlformats.org/drawingml/2006/main" prst="rect">
            <a:avLst/>
          </a:prstGeom>
        </p:spPr>
        <p:txBody>
          <a:bodyPr xmlns:a="http://schemas.openxmlformats.org/drawingml/2006/main" vert="horz" lIns="0" tIns="0" rIns="0" bIns="0" anchor="b">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540" marR="0" lvl="0" indent="0" algn="l" defTabSz="914400">
              <a:lnSpc>
                <a:spcPct val="110000"/>
              </a:lnSpc>
              <a:spcBef>
                <a:spcPts val="0"/>
              </a:spcBef>
              <a:spcAft>
                <a:spcPts val="0"/>
              </a:spcAft>
              <a:buClr>
                <a:prstClr val="black"/>
              </a:buClr>
              <a:buSzPts val="1400"/>
              <a:buNone/>
            </a:pPr>
            <a:r>
              <a:rPr sz="7000" b="0" i="0" u="none" cap="none">
                <a:ln>
                  <a:noFill/>
                </a:ln>
                <a:solidFill>
                  <a:srgbClr val="BCEF59"/>
                </a:solidFill>
                <a:latin typeface="Helvetica Neue"/>
                <a:ea typeface="Helvetica Neue"/>
                <a:cs typeface="Helvetica Neue"/>
              </a:rPr>
              <a:t>4</a:t>
            </a:r>
            <a:endParaRPr sz="7000">
              <a:solidFill>
                <a:srgbClr val="BCEF59"/>
              </a:solidFill>
            </a:endParaRPr>
          </a:p>
        </p:txBody>
      </p:sp>
      <p:sp>
        <p:nvSpPr>
          <p:cNvPr id="4" name="Content Placeholder 9">
            <a:extLst xmlns:a="http://schemas.openxmlformats.org/drawingml/2006/main">
              <a:ext uri="{FF2B5EF4-FFF2-40B4-BE49-F238E27FC236}">
                <a16:creationId xmlns:a16="http://schemas.microsoft.com/office/drawing/2014/main" id="{553D01BD-BEDA-E1D7-8112-CCD78E0BB0D4}"/>
              </a:ext>
            </a:extLst>
          </p:cNvPr>
          <p:cNvSpPr>
            <a:spLocks xmlns:a="http://schemas.openxmlformats.org/drawingml/2006/main" noGrp="1"/>
          </p:cNvSpPr>
          <p:nvPr/>
        </p:nvSpPr>
        <p:spPr>
          <a:xfrm xmlns:a="http://schemas.openxmlformats.org/drawingml/2006/main">
            <a:off x="4612932" y="3429000"/>
            <a:ext cx="2940124" cy="1359356"/>
          </a:xfrm>
          <a:prstGeom xmlns:a="http://schemas.openxmlformats.org/drawingml/2006/main" prst="rect">
            <a:avLst/>
          </a:prstGeom>
        </p:spPr>
        <p:txBody>
          <a:bodyPr xmlns:a="http://schemas.openxmlformats.org/drawingml/2006/main" vert="horz" lIns="0" tIns="0" rIns="0" bIns="0" anchor="b">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540" marR="0" lvl="0" indent="0" algn="l" defTabSz="914400">
              <a:lnSpc>
                <a:spcPct val="110000"/>
              </a:lnSpc>
              <a:spcBef>
                <a:spcPts val="0"/>
              </a:spcBef>
              <a:spcAft>
                <a:spcPts val="0"/>
              </a:spcAft>
              <a:buClr>
                <a:prstClr val="black"/>
              </a:buClr>
              <a:buSzPts val="1400"/>
              <a:buNone/>
            </a:pPr>
            <a:r>
              <a:rPr sz="7000" b="0" i="0" u="none" cap="none">
                <a:ln>
                  <a:noFill/>
                </a:ln>
                <a:solidFill>
                  <a:srgbClr val="BCEF59"/>
                </a:solidFill>
                <a:latin typeface="Helvetica Neue"/>
                <a:ea typeface="Helvetica Neue"/>
                <a:cs typeface="Helvetica Neue"/>
              </a:rPr>
              <a:t>3</a:t>
            </a:r>
            <a:endParaRPr sz="7000">
              <a:solidFill>
                <a:srgbClr val="BCEF59"/>
              </a:solidFill>
            </a:endParaRPr>
          </a:p>
        </p:txBody>
      </p:sp>
      <p:sp>
        <p:nvSpPr>
          <p:cNvPr id="5" name="Content Placeholder 9">
            <a:extLst xmlns:a="http://schemas.openxmlformats.org/drawingml/2006/main">
              <a:ext uri="{FF2B5EF4-FFF2-40B4-BE49-F238E27FC236}">
                <a16:creationId xmlns:a16="http://schemas.microsoft.com/office/drawing/2014/main" id="{5AE7C386-15B3-0C22-BD29-DB00B9F7FAA9}"/>
              </a:ext>
            </a:extLst>
          </p:cNvPr>
          <p:cNvSpPr>
            <a:spLocks xmlns:a="http://schemas.openxmlformats.org/drawingml/2006/main" noGrp="1"/>
          </p:cNvSpPr>
          <p:nvPr/>
        </p:nvSpPr>
        <p:spPr>
          <a:xfrm xmlns:a="http://schemas.openxmlformats.org/drawingml/2006/main">
            <a:off x="8562362" y="3429000"/>
            <a:ext cx="2940124" cy="1359356"/>
          </a:xfrm>
          <a:prstGeom xmlns:a="http://schemas.openxmlformats.org/drawingml/2006/main" prst="rect">
            <a:avLst/>
          </a:prstGeom>
        </p:spPr>
        <p:txBody>
          <a:bodyPr xmlns:a="http://schemas.openxmlformats.org/drawingml/2006/main" vert="horz" lIns="0" tIns="0" rIns="0" bIns="0" anchor="b">
            <a:normAutofit fontScale="100000"/>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2540" marR="0" lvl="0" indent="0" algn="l" defTabSz="914400">
              <a:lnSpc>
                <a:spcPct val="110000"/>
              </a:lnSpc>
              <a:spcBef>
                <a:spcPts val="0"/>
              </a:spcBef>
              <a:spcAft>
                <a:spcPts val="0"/>
              </a:spcAft>
              <a:buClr>
                <a:prstClr val="black"/>
              </a:buClr>
              <a:buSzPts val="1400"/>
              <a:buNone/>
            </a:pPr>
            <a:r>
              <a:rPr sz="7000" b="0" i="0" u="none" cap="none">
                <a:ln>
                  <a:noFill/>
                </a:ln>
                <a:solidFill>
                  <a:srgbClr val="BCEF59"/>
                </a:solidFill>
                <a:latin typeface="Helvetica Neue"/>
                <a:ea typeface="Helvetica Neue"/>
                <a:cs typeface="Helvetica Neue"/>
              </a:rPr>
              <a:t>100</a:t>
            </a:r>
            <a:endParaRPr sz="7000">
              <a:solidFill>
                <a:srgbClr val="BCEF59"/>
              </a:solidFill>
            </a:endParaRPr>
          </a:p>
        </p:txBody>
      </p:sp>
      <p:sp>
        <p:nvSpPr>
          <p:cNvPr id="14" name="Content Placeholder 15">
            <a:extLst xmlns:a="http://schemas.openxmlformats.org/drawingml/2006/main">
              <a:ext uri="{FF2B5EF4-FFF2-40B4-BE49-F238E27FC236}">
                <a16:creationId xmlns:a16="http://schemas.microsoft.com/office/drawing/2014/main" id="{45E38982-B0CA-BEBE-C656-B7F62835ADB0}"/>
              </a:ext>
            </a:extLst>
          </p:cNvPr>
          <p:cNvSpPr>
            <a:spLocks xmlns:a="http://schemas.openxmlformats.org/drawingml/2006/main" noGrp="1"/>
          </p:cNvSpPr>
          <p:nvPr/>
        </p:nvSpPr>
        <p:spPr>
          <a:xfrm xmlns:a="http://schemas.openxmlformats.org/drawingml/2006/main">
            <a:off x="393700" y="1138300"/>
            <a:ext cx="11404599" cy="1599406"/>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nSpc>
                <a:spcPct val="114000"/>
              </a:lnSpc>
              <a:spcBef>
                <a:spcPts val="0"/>
              </a:spcBef>
              <a:spcAft>
                <a:spcPts val="600"/>
              </a:spcAft>
              <a:buNone/>
            </a:pPr>
            <a:r>
              <a:rPr sz="1800">
                <a:latin typeface="Helvetica Neue Medium"/>
                <a:ea typeface="Helvetica Neue Medium"/>
                <a:cs typeface="Helvetica Neue Medium"/>
              </a:rPr>
              <a:t>WORKING PROTOTYPE</a:t>
            </a:r>
          </a:p>
          <a:p xmlns:a="http://schemas.openxmlformats.org/drawingml/2006/main">
            <a:pPr>
              <a:lnSpc>
                <a:spcPct val="114000"/>
              </a:lnSpc>
              <a:spcBef>
                <a:spcPts val="0"/>
              </a:spcBef>
              <a:spcAft>
                <a:spcPts val="600"/>
              </a:spcAft>
              <a:buNone/>
            </a:pPr>
            <a:r>
              <a:rPr>
                <a:latin typeface="Helvetica Neue"/>
                <a:ea typeface="Helvetica Neue"/>
                <a:cs typeface="Helvetica Neue"/>
              </a:rPr>
              <a:t>Native visionOS experience with three casualties, an interactive hazard, role-aware equipment, scenario timing, collaboration, scoring, and an evidence-grounded debrief.</a:t>
            </a:r>
          </a:p>
        </p:txBody>
      </p:sp>
      <p:sp>
        <p:nvSpPr>
          <p:cNvPr id="9" name="Footer Placeholder 6">
            <a:extLst xmlns:a="http://schemas.openxmlformats.org/drawingml/2006/main">
              <a:ext uri="{FF2B5EF4-FFF2-40B4-BE49-F238E27FC236}">
                <a16:creationId xmlns:a16="http://schemas.microsoft.com/office/drawing/2014/main" id="{7472BC53-6948-EE0F-E8E5-5488EF53DFE8}"/>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TriageXR  •  Spatial Hack AI</a:t>
            </a:r>
            <a:endParaRPr/>
          </a:p>
        </p:txBody>
      </p:sp>
    </p:spTree>
    <p:extLst>
      <p:ext uri="{BB962C8B-B14F-4D97-AF65-F5344CB8AC3E}">
        <p14:creationId xmlns:p14="http://schemas.microsoft.com/office/powerpoint/2010/main" val="236961682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1" name="Footer Placeholder 10">
            <a:extLst xmlns:a="http://schemas.openxmlformats.org/drawingml/2006/main">
              <a:ext uri="{FF2B5EF4-FFF2-40B4-BE49-F238E27FC236}">
                <a16:creationId xmlns:a16="http://schemas.microsoft.com/office/drawing/2014/main" id="{F06ADB7A-E0CB-A418-3590-620B0C5F17EB}"/>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r>
              <a:t>TriageXR  •  Spatial Hack AI</a:t>
            </a:r>
            <a:endParaRPr/>
          </a:p>
        </p:txBody>
      </p:sp>
      <p:sp>
        <p:nvSpPr>
          <p:cNvPr id="532" name="Google Shape;532;p58">
            <a:extLst xmlns:a="http://schemas.openxmlformats.org/drawingml/2006/main">
              <a:ext uri="{FF2B5EF4-FFF2-40B4-BE49-F238E27FC236}">
                <a16:creationId xmlns:a16="http://schemas.microsoft.com/office/drawing/2014/main" id="{9EE8A1CA-4617-FF10-E8D0-B582B7F48A83}"/>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fld id="{44235D47-801C-AA1F-E2A0-5E98061CBF6D}" type="slidenum">
              <a:t>09</a:t>
            </a:fld>
            <a:endParaRPr/>
          </a:p>
        </p:txBody>
      </p:sp>
      <p:sp>
        <p:nvSpPr>
          <p:cNvPr id="533" name="Google Shape;533;p58">
            <a:extLst xmlns:a="http://schemas.openxmlformats.org/drawingml/2006/main">
              <a:ext uri="{FF2B5EF4-FFF2-40B4-BE49-F238E27FC236}">
                <a16:creationId xmlns:a16="http://schemas.microsoft.com/office/drawing/2014/main" id="{68499D35-F61B-DF1C-10A6-EA04E8D00662}"/>
              </a:ext>
            </a:extLst>
          </p:cNvPr>
          <p:cNvSpPr>
            <a:spLocks xmlns:a="http://schemas.openxmlformats.org/drawingml/2006/main" noGrp="1"/>
          </p:cNvSpPr>
          <p:nvPr>
            <p:ph type="title" idx="0"/>
          </p:nvPr>
        </p:nvSpPr>
        <p:spPr>
          <a:xfrm xmlns:a="http://schemas.openxmlformats.org/drawingml/2006/main">
            <a:off x="393700" y="344008"/>
            <a:ext cx="11404600" cy="792557"/>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r>
              <a:t>From hackathon prototype to deployable training platform</a:t>
            </a:r>
          </a:p>
        </p:txBody>
      </p:sp>
      <p:graphicFrame>
        <p:nvGraphicFramePr>
          <p:cNvPr id="538" name="Google Shape;953;p80"/>
          <p:cNvGraphicFramePr/>
          <p:nvPr/>
        </p:nvGraphicFramePr>
        <p:xfrm>
          <a:off xmlns:a="http://schemas.openxmlformats.org/drawingml/2006/main" x="393699" y="1245705"/>
          <a:ext xmlns:a="http://schemas.openxmlformats.org/drawingml/2006/main" cx="11404600" cy="4722192"/>
        </p:xfrm>
        <a:graphic xmlns:a="http://schemas.openxmlformats.org/drawingml/2006/main">
          <a:graphicData uri="http://schemas.openxmlformats.org/drawingml/2006/table">
            <a:tbl>
              <a:tblPr/>
              <a:tblGrid>
                <a:gridCol w="2280920"/>
                <a:gridCol w="2280920"/>
                <a:gridCol w="2280920"/>
                <a:gridCol w="2280920"/>
                <a:gridCol w="2280920"/>
              </a:tblGrid>
              <a:tr h="4722192">
                <a:tc>
                  <a:txBody>
                    <a:bodyPr/>
                    <a:lstStyle/>
                    <a:p>
                      <a:pPr marL="0" lvl="0" indent="0" algn="l">
                        <a:spcBef>
                          <a:spcPts val="0"/>
                        </a:spcBef>
                        <a:spcAft>
                          <a:spcPts val="0"/>
                        </a:spcAft>
                        <a:buNone/>
                      </a:pPr>
                      <a:r>
                        <a:rPr sz="1600">
                          <a:solidFill>
                            <a:schemeClr val="tx1"/>
                          </a:solidFill>
                        </a:rPr>
                        <a:t>PROTOTYPE</a:t>
                      </a:r>
                      <a:endParaRPr sz="1600">
                        <a:solidFill>
                          <a:schemeClr val="tx1"/>
                        </a:solidFill>
                      </a:endParaRPr>
                    </a:p>
                  </a:txBody>
                  <a:tcPr marL="137150" marR="91425" marT="0" marB="91425">
                    <a:lnL w="19050" cmpd="sng">
                      <a:solidFill>
                        <a:srgbClr val="284638"/>
                      </a:solidFill>
                      <a:prstDash val="solid"/>
                    </a:lnL>
                    <a:lnR w="19050" cmpd="sng">
                      <a:solidFill>
                        <a:srgbClr val="284638"/>
                      </a:solidFill>
                      <a:prstDash val="solid"/>
                    </a:lnR>
                    <a:lnT w="9525" cmpd="sng">
                      <a:solidFill>
                        <a:srgbClr val="9E9E9E">
                          <a:alpha val="0"/>
                        </a:srgbClr>
                      </a:solidFill>
                      <a:prstDash val="solid"/>
                    </a:lnT>
                    <a:lnB w="9525" cmpd="sng">
                      <a:solidFill>
                        <a:srgbClr val="9E9E9E">
                          <a:alpha val="0"/>
                        </a:srgbClr>
                      </a:solidFill>
                      <a:prstDash val="solid"/>
                    </a:lnB>
                  </a:tcPr>
                </a:tc>
                <a:tc>
                  <a:txBody>
                    <a:bodyPr/>
                    <a:lstStyle/>
                    <a:p>
                      <a:pPr marL="0" lvl="0" indent="0" algn="l">
                        <a:spcBef>
                          <a:spcPts val="0"/>
                        </a:spcBef>
                        <a:spcAft>
                          <a:spcPts val="0"/>
                        </a:spcAft>
                        <a:buNone/>
                      </a:pPr>
                      <a:r>
                        <a:rPr sz="1600">
                          <a:solidFill>
                            <a:schemeClr val="tx1"/>
                          </a:solidFill>
                        </a:rPr>
                        <a:t>VALIDATE</a:t>
                      </a:r>
                      <a:endParaRPr sz="1600">
                        <a:solidFill>
                          <a:schemeClr val="tx1"/>
                        </a:solidFill>
                      </a:endParaRPr>
                    </a:p>
                  </a:txBody>
                  <a:tcPr marL="137150" marR="91425" marT="0" marB="91425">
                    <a:lnL w="19050" cmpd="sng">
                      <a:solidFill>
                        <a:srgbClr val="284638"/>
                      </a:solidFill>
                      <a:prstDash val="solid"/>
                    </a:lnL>
                    <a:lnR w="19050" cmpd="sng">
                      <a:solidFill>
                        <a:srgbClr val="284638"/>
                      </a:solidFill>
                      <a:prstDash val="solid"/>
                    </a:lnR>
                    <a:lnT w="9525" cmpd="sng">
                      <a:solidFill>
                        <a:srgbClr val="9E9E9E">
                          <a:alpha val="0"/>
                        </a:srgbClr>
                      </a:solidFill>
                      <a:prstDash val="solid"/>
                    </a:lnT>
                    <a:lnB w="9525" cmpd="sng">
                      <a:solidFill>
                        <a:srgbClr val="9E9E9E">
                          <a:alpha val="0"/>
                        </a:srgbClr>
                      </a:solidFill>
                      <a:prstDash val="solid"/>
                    </a:lnB>
                  </a:tcPr>
                </a:tc>
                <a:tc>
                  <a:txBody>
                    <a:bodyPr/>
                    <a:lstStyle/>
                    <a:p>
                      <a:pPr marL="0" lvl="0" indent="0" algn="l">
                        <a:spcBef>
                          <a:spcPts val="0"/>
                        </a:spcBef>
                        <a:spcAft>
                          <a:spcPts val="0"/>
                        </a:spcAft>
                        <a:buNone/>
                      </a:pPr>
                      <a:r>
                        <a:rPr sz="1600">
                          <a:solidFill>
                            <a:schemeClr val="tx1"/>
                          </a:solidFill>
                        </a:rPr>
                        <a:t>EXPAND</a:t>
                      </a:r>
                      <a:endParaRPr sz="1600">
                        <a:solidFill>
                          <a:schemeClr val="tx1"/>
                        </a:solidFill>
                      </a:endParaRPr>
                    </a:p>
                  </a:txBody>
                  <a:tcPr marL="137150" marR="91425" marT="0" marB="91425">
                    <a:lnL w="19050" cmpd="sng">
                      <a:solidFill>
                        <a:srgbClr val="284638"/>
                      </a:solidFill>
                      <a:prstDash val="solid"/>
                    </a:lnL>
                    <a:lnR w="19050" cmpd="sng">
                      <a:solidFill>
                        <a:srgbClr val="284638"/>
                      </a:solidFill>
                      <a:prstDash val="solid"/>
                    </a:lnR>
                    <a:lnT w="9525" cmpd="sng">
                      <a:solidFill>
                        <a:srgbClr val="9E9E9E">
                          <a:alpha val="0"/>
                        </a:srgbClr>
                      </a:solidFill>
                      <a:prstDash val="solid"/>
                    </a:lnT>
                    <a:lnB w="9525" cmpd="sng">
                      <a:solidFill>
                        <a:srgbClr val="9E9E9E">
                          <a:alpha val="0"/>
                        </a:srgbClr>
                      </a:solidFill>
                      <a:prstDash val="solid"/>
                    </a:lnB>
                  </a:tcPr>
                </a:tc>
                <a:tc>
                  <a:txBody>
                    <a:bodyPr/>
                    <a:lstStyle/>
                    <a:p>
                      <a:pPr marL="0" lvl="0" indent="0" algn="l">
                        <a:spcBef>
                          <a:spcPts val="0"/>
                        </a:spcBef>
                        <a:spcAft>
                          <a:spcPts val="0"/>
                        </a:spcAft>
                        <a:buNone/>
                      </a:pPr>
                      <a:r>
                        <a:rPr sz="1600">
                          <a:solidFill>
                            <a:schemeClr val="tx1"/>
                          </a:solidFill>
                        </a:rPr>
                        <a:t>PILOT</a:t>
                      </a:r>
                      <a:endParaRPr sz="1600">
                        <a:solidFill>
                          <a:schemeClr val="tx1"/>
                        </a:solidFill>
                      </a:endParaRPr>
                    </a:p>
                  </a:txBody>
                  <a:tcPr marL="137150" marR="91425" marT="0" marB="91425">
                    <a:lnL w="19050" cmpd="sng">
                      <a:solidFill>
                        <a:srgbClr val="284638"/>
                      </a:solidFill>
                      <a:prstDash val="solid"/>
                    </a:lnL>
                    <a:lnR w="19050" cmpd="sng">
                      <a:solidFill>
                        <a:srgbClr val="284638"/>
                      </a:solidFill>
                      <a:prstDash val="solid"/>
                    </a:lnR>
                    <a:lnT w="9525" cmpd="sng">
                      <a:solidFill>
                        <a:srgbClr val="9E9E9E">
                          <a:alpha val="0"/>
                        </a:srgbClr>
                      </a:solidFill>
                      <a:prstDash val="solid"/>
                    </a:lnT>
                    <a:lnB w="9525" cmpd="sng">
                      <a:solidFill>
                        <a:srgbClr val="9E9E9E">
                          <a:alpha val="0"/>
                        </a:srgbClr>
                      </a:solidFill>
                      <a:prstDash val="solid"/>
                    </a:lnB>
                  </a:tcPr>
                </a:tc>
                <a:tc>
                  <a:txBody>
                    <a:bodyPr/>
                    <a:lstStyle/>
                    <a:p>
                      <a:pPr marL="0" lvl="0" indent="0" algn="l">
                        <a:spcBef>
                          <a:spcPts val="0"/>
                        </a:spcBef>
                        <a:spcAft>
                          <a:spcPts val="0"/>
                        </a:spcAft>
                        <a:buNone/>
                      </a:pPr>
                      <a:r>
                        <a:rPr sz="1600">
                          <a:solidFill>
                            <a:schemeClr val="tx1"/>
                          </a:solidFill>
                        </a:rPr>
                        <a:t>SCALE</a:t>
                      </a:r>
                      <a:endParaRPr sz="1600">
                        <a:solidFill>
                          <a:schemeClr val="tx1"/>
                        </a:solidFill>
                      </a:endParaRPr>
                    </a:p>
                  </a:txBody>
                  <a:tcPr marL="137150" marR="91425" marT="0" marB="91425">
                    <a:lnL w="19050" cmpd="sng">
                      <a:solidFill>
                        <a:srgbClr val="284638"/>
                      </a:solidFill>
                      <a:prstDash val="solid"/>
                    </a:lnL>
                    <a:lnR w="19050" cmpd="sng">
                      <a:solidFill>
                        <a:srgbClr val="284638"/>
                      </a:solidFill>
                      <a:prstDash val="solid"/>
                    </a:lnR>
                    <a:lnT w="9525" cmpd="sng">
                      <a:solidFill>
                        <a:srgbClr val="9E9E9E">
                          <a:alpha val="0"/>
                        </a:srgbClr>
                      </a:solidFill>
                      <a:prstDash val="solid"/>
                    </a:lnT>
                    <a:lnB w="9525" cmpd="sng">
                      <a:solidFill>
                        <a:srgbClr val="9E9E9E">
                          <a:alpha val="0"/>
                        </a:srgbClr>
                      </a:solidFill>
                      <a:prstDash val="solid"/>
                    </a:lnB>
                  </a:tcPr>
                </a:tc>
              </a:tr>
            </a:tbl>
          </a:graphicData>
        </a:graphic>
      </p:graphicFrame>
      <p:sp>
        <p:nvSpPr>
          <p:cNvPr id="5" name="Google Shape;955;p80">
            <a:extLst xmlns:a="http://schemas.openxmlformats.org/drawingml/2006/main">
              <a:ext uri="{FF2B5EF4-FFF2-40B4-BE49-F238E27FC236}">
                <a16:creationId xmlns:a16="http://schemas.microsoft.com/office/drawing/2014/main" id="{EA32D89C-6778-2FE2-6D40-ABA6EAAD7EC1}"/>
              </a:ext>
            </a:extLst>
          </p:cNvPr>
          <p:cNvSpPr>
            <a:spLocks xmlns:a="http://schemas.openxmlformats.org/drawingml/2006/main" noGrp="1"/>
          </p:cNvSpPr>
          <p:nvPr/>
        </p:nvSpPr>
        <p:spPr>
          <a:xfrm xmlns:a="http://schemas.openxmlformats.org/drawingml/2006/main">
            <a:off x="4721718" y="4107740"/>
            <a:ext cx="4562665" cy="513300"/>
          </a:xfrm>
          <a:prstGeom xmlns:a="http://schemas.openxmlformats.org/drawingml/2006/main" prst="roundRect">
            <a:avLst>
              <a:gd name="adj" fmla="val 50000"/>
            </a:avLst>
          </a:prstGeom>
          <a:solidFill xmlns:a="http://schemas.openxmlformats.org/drawingml/2006/main">
            <a:schemeClr val="tx1"/>
          </a:solidFill>
          <a:ln xmlns:a="http://schemas.openxmlformats.org/drawingml/2006/main">
            <a:noFill/>
          </a:ln>
        </p:spPr>
        <p:txBody>
          <a:bodyPr xmlns:a="http://schemas.openxmlformats.org/drawingml/2006/main" spcFirstLastPara="1" wrap="square" lIns="210300" tIns="121875" rIns="121875" bIns="121875" anchor="ctr">
            <a:noAutofit/>
          </a:bodyPr>
          <a:lstStyle xmlns:a="http://schemas.openxmlformats.org/drawingml/2006/main"/>
          <a:p xmlns:a="http://schemas.openxmlformats.org/drawingml/2006/main">
            <a:r>
              <a:rPr sz="1500" b="1">
                <a:solidFill>
                  <a:schemeClr val="bg1"/>
                </a:solidFill>
                <a:latin typeface="Inter SemiBold"/>
                <a:ea typeface="Inter SemiBold"/>
                <a:cs typeface="Inter SemiBold"/>
              </a:rPr>
              <a:t>Run station-level pilot</a:t>
            </a:r>
          </a:p>
        </p:txBody>
      </p:sp>
      <p:sp>
        <p:nvSpPr>
          <p:cNvPr id="6" name="Google Shape;957;p80">
            <a:extLst xmlns:a="http://schemas.openxmlformats.org/drawingml/2006/main">
              <a:ext uri="{FF2B5EF4-FFF2-40B4-BE49-F238E27FC236}">
                <a16:creationId xmlns:a16="http://schemas.microsoft.com/office/drawing/2014/main" id="{D5359B3A-662D-9283-F7D8-9D5DCD655B5B}"/>
              </a:ext>
            </a:extLst>
          </p:cNvPr>
          <p:cNvSpPr>
            <a:spLocks xmlns:a="http://schemas.openxmlformats.org/drawingml/2006/main" noGrp="1"/>
          </p:cNvSpPr>
          <p:nvPr/>
        </p:nvSpPr>
        <p:spPr>
          <a:xfrm xmlns:a="http://schemas.openxmlformats.org/drawingml/2006/main">
            <a:off x="584093" y="5478390"/>
            <a:ext cx="11026708" cy="513300"/>
          </a:xfrm>
          <a:prstGeom xmlns:a="http://schemas.openxmlformats.org/drawingml/2006/main" prst="roundRect">
            <a:avLst>
              <a:gd name="adj" fmla="val 50000"/>
            </a:avLst>
          </a:prstGeom>
          <a:solidFill xmlns:a="http://schemas.openxmlformats.org/drawingml/2006/main">
            <a:srgbClr val="284638"/>
          </a:solidFill>
          <a:ln xmlns:a="http://schemas.openxmlformats.org/drawingml/2006/main">
            <a:noFill/>
          </a:ln>
        </p:spPr>
        <p:txBody>
          <a:bodyPr xmlns:a="http://schemas.openxmlformats.org/drawingml/2006/main" spcFirstLastPara="1" wrap="square" lIns="210300" tIns="121875" rIns="121875" bIns="121875" anchor="ctr">
            <a:noAutofit/>
          </a:bodyPr>
          <a:lstStyle xmlns:a="http://schemas.openxmlformats.org/drawingml/2006/main"/>
          <a:p xmlns:a="http://schemas.openxmlformats.org/drawingml/2006/main">
            <a:r>
              <a:rPr sz="1500" b="1">
                <a:latin typeface="Inter SemiBold"/>
                <a:ea typeface="Inter SemiBold"/>
                <a:cs typeface="Inter SemiBold"/>
              </a:rPr>
              <a:t>Multi-agency deployment with governance and analytics</a:t>
            </a:r>
            <a:endParaRPr sz="1500" b="1">
              <a:latin typeface="Inter SemiBold"/>
              <a:ea typeface="Inter SemiBold"/>
              <a:cs typeface="Inter SemiBold"/>
            </a:endParaRPr>
          </a:p>
        </p:txBody>
      </p:sp>
      <p:sp>
        <p:nvSpPr>
          <p:cNvPr id="7" name="Google Shape;960;p80">
            <a:extLst xmlns:a="http://schemas.openxmlformats.org/drawingml/2006/main">
              <a:ext uri="{FF2B5EF4-FFF2-40B4-BE49-F238E27FC236}">
                <a16:creationId xmlns:a16="http://schemas.microsoft.com/office/drawing/2014/main" id="{2293B6C0-CD6E-C9F0-68F7-73F7B726A1EF}"/>
              </a:ext>
            </a:extLst>
          </p:cNvPr>
          <p:cNvSpPr>
            <a:spLocks xmlns:a="http://schemas.openxmlformats.org/drawingml/2006/main" noGrp="1"/>
          </p:cNvSpPr>
          <p:nvPr/>
        </p:nvSpPr>
        <p:spPr>
          <a:xfrm xmlns:a="http://schemas.openxmlformats.org/drawingml/2006/main">
            <a:off x="7522794" y="4754965"/>
            <a:ext cx="4088008" cy="513300"/>
          </a:xfrm>
          <a:prstGeom xmlns:a="http://schemas.openxmlformats.org/drawingml/2006/main" prst="roundRect">
            <a:avLst>
              <a:gd name="adj" fmla="val 50000"/>
            </a:avLst>
          </a:prstGeom>
          <a:solidFill xmlns:a="http://schemas.openxmlformats.org/drawingml/2006/main">
            <a:srgbClr val="BCEF59"/>
          </a:solidFill>
          <a:ln xmlns:a="http://schemas.openxmlformats.org/drawingml/2006/main">
            <a:noFill/>
          </a:ln>
        </p:spPr>
        <p:txBody>
          <a:bodyPr xmlns:a="http://schemas.openxmlformats.org/drawingml/2006/main" spcFirstLastPara="1" wrap="square" lIns="210300" tIns="121875" rIns="121875" bIns="121875" anchor="ctr">
            <a:noAutofit/>
          </a:bodyPr>
          <a:lstStyle xmlns:a="http://schemas.openxmlformats.org/drawingml/2006/main"/>
          <a:p xmlns:a="http://schemas.openxmlformats.org/drawingml/2006/main">
            <a:r>
              <a:rPr sz="1500" b="1">
                <a:solidFill>
                  <a:schemeClr val="bg1"/>
                </a:solidFill>
                <a:latin typeface="Inter SemiBold"/>
                <a:ea typeface="Inter SemiBold"/>
                <a:cs typeface="Inter SemiBold"/>
              </a:rPr>
              <a:t>Measure skill transfer and team performance</a:t>
            </a:r>
          </a:p>
        </p:txBody>
      </p:sp>
      <p:sp>
        <p:nvSpPr>
          <p:cNvPr id="8" name="Google Shape;963;p80">
            <a:extLst xmlns:a="http://schemas.openxmlformats.org/drawingml/2006/main">
              <a:ext uri="{FF2B5EF4-FFF2-40B4-BE49-F238E27FC236}">
                <a16:creationId xmlns:a16="http://schemas.microsoft.com/office/drawing/2014/main" id="{0F4F3439-EC29-4518-4A3E-7436F8578035}"/>
              </a:ext>
            </a:extLst>
          </p:cNvPr>
          <p:cNvSpPr>
            <a:spLocks xmlns:a="http://schemas.openxmlformats.org/drawingml/2006/main" noGrp="1"/>
          </p:cNvSpPr>
          <p:nvPr/>
        </p:nvSpPr>
        <p:spPr>
          <a:xfrm xmlns:a="http://schemas.openxmlformats.org/drawingml/2006/main">
            <a:off x="2819968" y="3403140"/>
            <a:ext cx="8790833" cy="513300"/>
          </a:xfrm>
          <a:prstGeom xmlns:a="http://schemas.openxmlformats.org/drawingml/2006/main" prst="roundRect">
            <a:avLst>
              <a:gd name="adj" fmla="val 50000"/>
            </a:avLst>
          </a:prstGeom>
          <a:solidFill xmlns:a="http://schemas.openxmlformats.org/drawingml/2006/main">
            <a:schemeClr val="tx1"/>
          </a:solidFill>
          <a:ln xmlns:a="http://schemas.openxmlformats.org/drawingml/2006/main">
            <a:noFill/>
          </a:ln>
        </p:spPr>
        <p:txBody>
          <a:bodyPr xmlns:a="http://schemas.openxmlformats.org/drawingml/2006/main" spcFirstLastPara="1" wrap="square" lIns="210300" tIns="121875" rIns="121875" bIns="121875" anchor="ctr">
            <a:noAutofit/>
          </a:bodyPr>
          <a:lstStyle xmlns:a="http://schemas.openxmlformats.org/drawingml/2006/main"/>
          <a:p xmlns:a="http://schemas.openxmlformats.org/drawingml/2006/main">
            <a:r>
              <a:rPr sz="1500" b="1">
                <a:solidFill>
                  <a:schemeClr val="bg1"/>
                </a:solidFill>
                <a:latin typeface="Inter SemiBold"/>
                <a:ea typeface="Inter SemiBold"/>
                <a:cs typeface="Inter SemiBold"/>
              </a:rPr>
              <a:t>Add authoring tools and scenario library</a:t>
            </a:r>
          </a:p>
        </p:txBody>
      </p:sp>
      <p:sp>
        <p:nvSpPr>
          <p:cNvPr id="9" name="Google Shape;966;p80">
            <a:extLst xmlns:a="http://schemas.openxmlformats.org/drawingml/2006/main">
              <a:ext uri="{FF2B5EF4-FFF2-40B4-BE49-F238E27FC236}">
                <a16:creationId xmlns:a16="http://schemas.microsoft.com/office/drawing/2014/main" id="{1D07E5FD-0BEC-93D6-2CF5-BC908A51553C}"/>
              </a:ext>
            </a:extLst>
          </p:cNvPr>
          <p:cNvSpPr>
            <a:spLocks xmlns:a="http://schemas.openxmlformats.org/drawingml/2006/main" noGrp="1"/>
          </p:cNvSpPr>
          <p:nvPr/>
        </p:nvSpPr>
        <p:spPr>
          <a:xfrm xmlns:a="http://schemas.openxmlformats.org/drawingml/2006/main">
            <a:off x="2819968" y="2698515"/>
            <a:ext cx="6408538" cy="513300"/>
          </a:xfrm>
          <a:prstGeom xmlns:a="http://schemas.openxmlformats.org/drawingml/2006/main" prst="roundRect">
            <a:avLst>
              <a:gd name="adj" fmla="val 50000"/>
            </a:avLst>
          </a:prstGeom>
          <a:solidFill xmlns:a="http://schemas.openxmlformats.org/drawingml/2006/main">
            <a:schemeClr val="tx1"/>
          </a:solidFill>
          <a:ln xmlns:a="http://schemas.openxmlformats.org/drawingml/2006/main">
            <a:noFill/>
          </a:ln>
        </p:spPr>
        <p:txBody>
          <a:bodyPr xmlns:a="http://schemas.openxmlformats.org/drawingml/2006/main" spcFirstLastPara="1" wrap="square" lIns="210300" tIns="121875" rIns="121875" bIns="121875" anchor="ctr">
            <a:noAutofit/>
          </a:bodyPr>
          <a:lstStyle xmlns:a="http://schemas.openxmlformats.org/drawingml/2006/main"/>
          <a:p xmlns:a="http://schemas.openxmlformats.org/drawingml/2006/main">
            <a:r>
              <a:rPr sz="1500" b="1">
                <a:solidFill>
                  <a:schemeClr val="bg1"/>
                </a:solidFill>
                <a:latin typeface="Inter SemiBold"/>
                <a:ea typeface="Inter SemiBold"/>
                <a:cs typeface="Inter SemiBold"/>
              </a:rPr>
              <a:t>Test with first responders and instructors</a:t>
            </a:r>
          </a:p>
        </p:txBody>
      </p:sp>
      <p:sp>
        <p:nvSpPr>
          <p:cNvPr id="10" name="Google Shape;969;p80">
            <a:extLst xmlns:a="http://schemas.openxmlformats.org/drawingml/2006/main">
              <a:ext uri="{FF2B5EF4-FFF2-40B4-BE49-F238E27FC236}">
                <a16:creationId xmlns:a16="http://schemas.microsoft.com/office/drawing/2014/main" id="{0AB147C5-D3F9-0847-C2A5-2A90154B1A3C}"/>
              </a:ext>
            </a:extLst>
          </p:cNvPr>
          <p:cNvSpPr>
            <a:spLocks xmlns:a="http://schemas.openxmlformats.org/drawingml/2006/main" noGrp="1"/>
          </p:cNvSpPr>
          <p:nvPr/>
        </p:nvSpPr>
        <p:spPr>
          <a:xfrm xmlns:a="http://schemas.openxmlformats.org/drawingml/2006/main">
            <a:off x="507893" y="1975090"/>
            <a:ext cx="4185180" cy="513300"/>
          </a:xfrm>
          <a:prstGeom xmlns:a="http://schemas.openxmlformats.org/drawingml/2006/main" prst="roundRect">
            <a:avLst>
              <a:gd name="adj" fmla="val 50000"/>
            </a:avLst>
          </a:prstGeom>
          <a:solidFill xmlns:a="http://schemas.openxmlformats.org/drawingml/2006/main">
            <a:srgbClr val="BCEF59"/>
          </a:solidFill>
          <a:ln xmlns:a="http://schemas.openxmlformats.org/drawingml/2006/main">
            <a:noFill/>
          </a:ln>
        </p:spPr>
        <p:txBody>
          <a:bodyPr xmlns:a="http://schemas.openxmlformats.org/drawingml/2006/main" spcFirstLastPara="1" wrap="square" lIns="210300" tIns="121875" rIns="121875" bIns="121875" anchor="ctr">
            <a:noAutofit/>
          </a:bodyPr>
          <a:lstStyle xmlns:a="http://schemas.openxmlformats.org/drawingml/2006/main"/>
          <a:p xmlns:a="http://schemas.openxmlformats.org/drawingml/2006/main">
            <a:r>
              <a:rPr sz="1500" b="1">
                <a:solidFill>
                  <a:schemeClr val="bg1"/>
                </a:solidFill>
                <a:latin typeface="Inter SemiBold"/>
                <a:ea typeface="Inter SemiBold"/>
                <a:cs typeface="Inter SemiBold"/>
              </a:rPr>
              <a:t>Vision Pro scenario + evidence loop</a:t>
            </a:r>
            <a:endParaRPr sz="1500" b="1">
              <a:solidFill>
                <a:schemeClr val="bg1"/>
              </a:solidFill>
              <a:latin typeface="Inter SemiBold"/>
              <a:ea typeface="Inter SemiBold"/>
              <a:cs typeface="Inter SemiBold"/>
            </a:endParaRPr>
          </a:p>
        </p:txBody>
      </p:sp>
    </p:spTree>
    <p:extLst>
      <p:ext uri="{BB962C8B-B14F-4D97-AF65-F5344CB8AC3E}">
        <p14:creationId xmlns:p14="http://schemas.microsoft.com/office/powerpoint/2010/main" val="2435171538"/>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1F94652D-58EE-6496-27FC-88868633C24A}"/>
              </a:ext>
            </a:extLst>
          </p:cNvPr>
          <p:cNvSpPr>
            <a:spLocks xmlns:a="http://schemas.openxmlformats.org/drawingml/2006/main" noGrp="1"/>
          </p:cNvSpPr>
          <p:nvPr>
            <p:ph type="ctrTitle" idx="0"/>
          </p:nvPr>
        </p:nvSpPr>
        <p:spPr>
          <a:xfrm xmlns:a="http://schemas.openxmlformats.org/drawingml/2006/main">
            <a:off x="1371600" y="2066174"/>
            <a:ext cx="9448800" cy="2203686"/>
          </a:xfrm>
        </p:spPr>
        <p:txBody>
          <a:bodyPr xmlns:a="http://schemas.openxmlformats.org/drawingml/2006/main">
            <a:noAutofit/>
          </a:bodyPr>
          <a:lstStyle xmlns:a="http://schemas.openxmlformats.org/drawingml/2006/main"/>
          <a:p xmlns:a="http://schemas.openxmlformats.org/drawingml/2006/main">
            <a:pPr algn="ctr">
              <a:buNone/>
            </a:pPr>
            <a:r>
              <a:rPr sz="7200">
                <a:solidFill>
                  <a:srgbClr val="BCEF59"/>
                </a:solidFill>
              </a:rPr>
              <a:t>Train decisions.</a:t>
            </a:r>
          </a:p>
          <a:p xmlns:a="http://schemas.openxmlformats.org/drawingml/2006/main">
            <a:pPr algn="ctr">
              <a:buNone/>
            </a:pPr>
            <a:r>
              <a:rPr sz="7200">
                <a:solidFill>
                  <a:srgbClr val="BCEF59"/>
                </a:solidFill>
              </a:rPr>
              <a:t>Rehearse teamwork. Save time when it matters.</a:t>
            </a:r>
          </a:p>
        </p:txBody>
      </p:sp>
      <p:sp>
        <p:nvSpPr>
          <p:cNvPr id="6" name="Subtitle 4">
            <a:extLst xmlns:a="http://schemas.openxmlformats.org/drawingml/2006/main">
              <a:ext uri="{FF2B5EF4-FFF2-40B4-BE49-F238E27FC236}">
                <a16:creationId xmlns:a16="http://schemas.microsoft.com/office/drawing/2014/main" id="{7A15B0DD-3ED8-37CA-9675-F348EABF4C6C}"/>
              </a:ext>
            </a:extLst>
          </p:cNvPr>
          <p:cNvSpPr>
            <a:spLocks xmlns:a="http://schemas.openxmlformats.org/drawingml/2006/main" noGrp="1"/>
          </p:cNvSpPr>
          <p:nvPr/>
        </p:nvSpPr>
        <p:spPr>
          <a:xfrm xmlns:a="http://schemas.openxmlformats.org/drawingml/2006/main">
            <a:off x="2461605" y="4874716"/>
            <a:ext cx="7267329" cy="691197"/>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lgn="ctr">
              <a:buNone/>
            </a:pPr>
            <a:r>
              <a:rPr sz="2200">
                <a:latin typeface="Inter Medium"/>
                <a:ea typeface="Inter Medium"/>
                <a:cs typeface="Inter Medium"/>
              </a:rPr>
              <a:t>TriageXR  •  Weishuo, Guan &amp; Shreeraj</a:t>
            </a:r>
          </a:p>
        </p:txBody>
      </p:sp>
      <p:sp>
        <p:nvSpPr>
          <p:cNvPr id="3" name="Rounded Rectangle 2">
            <a:extLst xmlns:a="http://schemas.openxmlformats.org/drawingml/2006/main">
              <a:ext uri="{FF2B5EF4-FFF2-40B4-BE49-F238E27FC236}">
                <a16:creationId xmlns:a16="http://schemas.microsoft.com/office/drawing/2014/main" id="{64FF5F30-1F7D-7291-7074-4D9972C874C3}"/>
              </a:ext>
            </a:extLst>
          </p:cNvPr>
          <p:cNvSpPr>
            <a:spLocks xmlns:a="http://schemas.openxmlformats.org/drawingml/2006/main" noGrp="1"/>
          </p:cNvSpPr>
          <p:nvPr/>
        </p:nvSpPr>
        <p:spPr>
          <a:xfrm xmlns:a="http://schemas.openxmlformats.org/drawingml/2006/main">
            <a:off x="4793264" y="1096027"/>
            <a:ext cx="2604013" cy="488816"/>
          </a:xfrm>
          <a:prstGeom xmlns:a="http://schemas.openxmlformats.org/drawingml/2006/main" prst="roundRect">
            <a:avLst>
              <a:gd name="adj" fmla="val 50000"/>
            </a:avLst>
          </a:prstGeom>
          <a:solidFill xmlns:a="http://schemas.openxmlformats.org/drawingml/2006/main">
            <a:schemeClr val="tx1">
              <a:alpha val="15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1600" b="1">
                <a:solidFill>
                  <a:schemeClr val="tx1"/>
                </a:solidFill>
                <a:latin typeface="Inter SemiBold"/>
                <a:ea typeface="Inter SemiBold"/>
                <a:cs typeface="Inter SemiBold"/>
              </a:rPr>
              <a:t>SPATIAL HACK AI</a:t>
            </a:r>
          </a:p>
        </p:txBody>
      </p:sp>
    </p:spTree>
    <p:extLst>
      <p:ext uri="{BB962C8B-B14F-4D97-AF65-F5344CB8AC3E}">
        <p14:creationId xmlns:p14="http://schemas.microsoft.com/office/powerpoint/2010/main" val="2385373601"/>
      </p:ext>
    </p:extLst>
  </p:cSld>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Inter">
      <a:majorFont>
        <a:latin typeface="Inter"/>
        <a:ea typeface=""/>
        <a:cs typeface=""/>
      </a:majorFont>
      <a:minorFont>
        <a:latin typeface="Inter"/>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2026-08-10T02:44:07.0100000Z</dcterms:created>
  <dcterms:modified xsi:type="dcterms:W3CDTF">2026-08-10T02:44:07.0100000Z</dcterms:modified>
</coreProperties>
</file>