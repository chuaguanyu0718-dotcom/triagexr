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7c525ddc34d61" /><Relationship Type="http://schemas.openxmlformats.org/officeDocument/2006/relationships/extended-properties" Target="/docProps/app.xml" Id="R3d92f6aa1ed84c7d" /><Relationship Type="http://schemas.openxmlformats.org/officeDocument/2006/relationships/officeDocument" Target="/ppt/presentation.xml" Id="R53bc1fc6002f41a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a755b86e3ac4dca"/>
  </p:sldMasterIdLst>
  <p:notesMasterIdLst>
    <p:notesMasterId xmlns:r="http://schemas.openxmlformats.org/officeDocument/2006/relationships" r:id="R59262de8210c43f3"/>
  </p:notesMasterIdLst>
  <p:sldIdLst>
    <p:sldId xmlns:r="http://schemas.openxmlformats.org/officeDocument/2006/relationships" id="256" r:id="R3580e29e3c9b42f0"/>
    <p:sldId xmlns:r="http://schemas.openxmlformats.org/officeDocument/2006/relationships" id="257" r:id="Rfdafafa733c341f6"/>
    <p:sldId xmlns:r="http://schemas.openxmlformats.org/officeDocument/2006/relationships" id="258" r:id="Rde00ebc35ec54347"/>
    <p:sldId xmlns:r="http://schemas.openxmlformats.org/officeDocument/2006/relationships" id="259" r:id="R76f39c6e088644d2"/>
    <p:sldId xmlns:r="http://schemas.openxmlformats.org/officeDocument/2006/relationships" id="260" r:id="R8a4e6bd79f554718"/>
    <p:sldId xmlns:r="http://schemas.openxmlformats.org/officeDocument/2006/relationships" id="261" r:id="R9165f9a0a1604e40"/>
    <p:sldId xmlns:r="http://schemas.openxmlformats.org/officeDocument/2006/relationships" id="262" r:id="R76b498784e044b29"/>
    <p:sldId xmlns:r="http://schemas.openxmlformats.org/officeDocument/2006/relationships" id="263" r:id="R327e42938c904f3d"/>
    <p:sldId xmlns:r="http://schemas.openxmlformats.org/officeDocument/2006/relationships" id="264" r:id="Re0808d701613478b"/>
  </p:sldIdLst>
  <p:sldSz cx="18288000" cy="10287000"/>
  <p:notesSz cx="6858000" cy="9144000"/>
  <p:embeddedFontLst>
    <p:embeddedFont>
      <p:font typeface="Aileron Bold"/>
      <p:regular xmlns:r="http://schemas.openxmlformats.org/officeDocument/2006/relationships" r:id="R15d0b524a2b94508"/>
    </p:embeddedFont>
    <p:embeddedFont>
      <p:font typeface="Aileron"/>
      <p:regular xmlns:r="http://schemas.openxmlformats.org/officeDocument/2006/relationships" r:id="R7dbbc1c391b444b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1fbfe9dee46c6" /><Relationship Type="http://schemas.openxmlformats.org/officeDocument/2006/relationships/slideMaster" Target="/ppt/slideMasters/slideMaster1.xml" Id="R3a755b86e3ac4dca" /><Relationship Type="http://schemas.openxmlformats.org/officeDocument/2006/relationships/notesMaster" Target="/ppt/notesMasters/notesMaster1.xml" Id="R59262de8210c43f3" /><Relationship Type="http://schemas.openxmlformats.org/officeDocument/2006/relationships/presProps" Target="/ppt/presProps.xml" Id="R83de8dd32d0549a1" /><Relationship Type="http://schemas.openxmlformats.org/officeDocument/2006/relationships/viewProps" Target="/ppt/viewProps.xml" Id="Rc334f513aeb04ecd" /><Relationship Type="http://schemas.openxmlformats.org/officeDocument/2006/relationships/tableStyles" Target="/ppt/tableStyles.xml" Id="Rb0d038c62f444009" /><Relationship Type="http://schemas.openxmlformats.org/officeDocument/2006/relationships/font" Target="/ppt/fonts/font.dat" Id="R15d0b524a2b94508" /><Relationship Type="http://schemas.openxmlformats.org/officeDocument/2006/relationships/font" Target="/ppt/fonts/font2.dat" Id="R7dbbc1c391b444b5" /><Relationship Type="http://schemas.openxmlformats.org/officeDocument/2006/relationships/slide" Target="/ppt/slides/slide1.xml" Id="R3580e29e3c9b42f0" /><Relationship Type="http://schemas.openxmlformats.org/officeDocument/2006/relationships/slide" Target="/ppt/slides/slide2.xml" Id="Rfdafafa733c341f6" /><Relationship Type="http://schemas.openxmlformats.org/officeDocument/2006/relationships/slide" Target="/ppt/slides/slide3.xml" Id="Rde00ebc35ec54347" /><Relationship Type="http://schemas.openxmlformats.org/officeDocument/2006/relationships/slide" Target="/ppt/slides/slide4.xml" Id="R76f39c6e088644d2" /><Relationship Type="http://schemas.openxmlformats.org/officeDocument/2006/relationships/slide" Target="/ppt/slides/slide5.xml" Id="R8a4e6bd79f554718" /><Relationship Type="http://schemas.openxmlformats.org/officeDocument/2006/relationships/slide" Target="/ppt/slides/slide6.xml" Id="R9165f9a0a1604e40" /><Relationship Type="http://schemas.openxmlformats.org/officeDocument/2006/relationships/slide" Target="/ppt/slides/slide7.xml" Id="R76b498784e044b29" /><Relationship Type="http://schemas.openxmlformats.org/officeDocument/2006/relationships/slide" Target="/ppt/slides/slide8.xml" Id="R327e42938c904f3d" /><Relationship Type="http://schemas.openxmlformats.org/officeDocument/2006/relationships/slide" Target="/ppt/slides/slide9.xml" Id="Re0808d701613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c9ac1a266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37c5c95f642d1" /><Relationship Type="http://schemas.openxmlformats.org/officeDocument/2006/relationships/notesMaster" Target="/ppt/notesMasters/notesMaster1.xml" Id="Rc50b1a8bf01a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380daa68dd4b48" /><Relationship Type="http://schemas.openxmlformats.org/officeDocument/2006/relationships/notesMaster" Target="/ppt/notesMasters/notesMaster1.xml" Id="R2a53a45f5a524a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083308152941b4" /><Relationship Type="http://schemas.openxmlformats.org/officeDocument/2006/relationships/notesMaster" Target="/ppt/notesMasters/notesMaster1.xml" Id="Re602c354d12943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50a48b7e745f1" /><Relationship Type="http://schemas.openxmlformats.org/officeDocument/2006/relationships/notesMaster" Target="/ppt/notesMasters/notesMaster1.xml" Id="R0bcd718b62b6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b040199c114f79" /><Relationship Type="http://schemas.openxmlformats.org/officeDocument/2006/relationships/notesMaster" Target="/ppt/notesMasters/notesMaster1.xml" Id="R4f6c20a2f87541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8f06d39644959" /><Relationship Type="http://schemas.openxmlformats.org/officeDocument/2006/relationships/notesMaster" Target="/ppt/notesMasters/notesMaster1.xml" Id="R1deb91a2bbe14e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c0a11bbacd4b3c" /><Relationship Type="http://schemas.openxmlformats.org/officeDocument/2006/relationships/notesMaster" Target="/ppt/notesMasters/notesMaster1.xml" Id="R29e12fbcfebf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5666f91e794f8a" /><Relationship Type="http://schemas.openxmlformats.org/officeDocument/2006/relationships/notesMaster" Target="/ppt/notesMasters/notesMaster1.xml" Id="Rb67b9d50c13046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ceb21247ec4ad3" /><Relationship Type="http://schemas.openxmlformats.org/officeDocument/2006/relationships/notesMaster" Target="/ppt/notesMasters/notesMaster1.xml" Id="R2ae44274fe2b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the operational training problem without claiming that spatial simulation replaces live exercises.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- User-supplied training photograph: /var/folders/p_/p663ljhn16l7xm3y7c77vgvm0000gp/T/TemporaryItems/NSIRD_screencaptureui_c4iEZ1/Screenshot 2026-08-10 at 10.35.18 AM.png.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experience flow is implemented in the briefing window, immersive space, spatial assessment coordinator, incident engine, and after-action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6-minute neurological-risk and 10-minute simulation-outcome thresholds are scenario rules in the repository. They are used for training logic, not presented as a general medical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grounded in SpatialAssessmentCoordinator.swift, IncidentCollaboration.swift, Core/TriageDomain.swift, AICoachService.swift, and relay/src/worker.js.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Differentiators are implemented capabilities. The deck does not claim improved clinical outcomes or replacement of certified practical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75-second stage duration refers to the repository's Demo 8× timing, where the ten-minute scenario threshold arrives after 75 real seconds. It is a demo configuration, not a product-performance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secure domain-expert validation before expanding scenarios or deployment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/Users/shreeraj/projects/triagexr/TriageXR/README.md and relevant Swift/relay implementation files.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ad6fab20045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0f173e3eb4a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7dc64aa6245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f4a78b6e443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e91c8889c43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b70b409354e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0684b5a644d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12618032840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44962da0244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6108b07694b3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bd381ec5b4c5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ED814D-E74E-4EDB-A286-B0489FA9D4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75EE6D-E8B7-4BC2-9952-F09EF69646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386EB8-F3BC-471E-8D5D-5EF9F3E100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3ABF53-CD73-49AD-9FAC-D3D2515F51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CAAE2A-E723-4713-BABE-0A12B539C3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62C059-0557-4930-9EA4-D3D8EFC71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1B1CEF-B368-4C0E-93D8-7CA1CCEABD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2FADA-7618-4ACF-9308-71DCBD433F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14A385-45E1-4DCB-A544-2484B7CE4F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A674D9-43C9-46B3-AC4A-1753CCF35A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FF27C9-A126-4693-9D68-529D659BA4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60C938-84B6-4BD6-B08B-9132581BF9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1333AE-B46B-4018-A493-1D14DE42BA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6C7F47-4730-4CDA-BDD2-F94BEDAD6D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8EC7BF-5A69-48E1-B841-7163CC5E4F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839936-8517-4E5D-B21E-0AC06A2A8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6F4B72-0F2A-4FAD-930C-5CCCF200D5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37CCC0-6D44-45DD-96D8-910B0A186F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C181681-6FA8-44FF-8356-3A6288ABB5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EC293A-346F-412E-965A-B2F208E298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F966EE4-0B36-4CC2-97BD-5EACF2A43C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6FA2E-5155-4A6A-B399-B05ECDA57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E9C815-02A8-497D-804D-C5575E519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E296FE-3017-4CB4-8037-C6861B20DE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8BF1F03-E8ED-4472-A30B-D056F297224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3B7C6AD-F37C-4500-A8AB-AA37B9D244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BD8C33C-49FB-40C7-A262-1E0FFDB23A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68D0EA-B4B3-4BFF-96CD-E971118F1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52B2B7A-C5D2-47C7-87D6-C11842FE7F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24A890-DD79-42C6-8F7A-D1B945745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FCCE00-D7CD-49D6-BD95-AF366DAEC4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04564DA-A0F8-4CC0-8077-19C622777B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5BD076-272E-4FFF-BF3B-F3B6F10145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EB034FF-E5FC-4DA0-B75E-FE3F40E180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E69CBF-00D7-4BD8-99C4-ED743BF103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8E2BD9B-88A6-40BE-8E55-A9F7DE461C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21A34A-CEB2-41DD-BCE4-6E589B127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40BCC2-70EF-4B49-B83A-E8FF4151A3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8D73E1-8F01-4DBE-AEF9-8E7F734339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45D75B-C6C6-4EAD-A998-7D9C349BC8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FCA75F-CB36-4E30-8E6C-72A2F6B054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5F1F809-8567-4E04-B531-8488E63CB4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3A311A-2AA2-4036-9D5D-9262D904A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EDC53FF-0665-4075-AE40-779A9AD39D9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386801-21A1-412C-92EF-F46E0DC9CE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43B6B3A-5056-4DB8-8AE1-FB4B806695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96D139-B4FA-4122-8491-00F2478F1B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5B7515-E6B4-423B-9AE1-B6A01350C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5CB651-F030-4EF1-90B0-7A67D8477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136731-8C85-4008-8125-A7E1F4C0EB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4B3E49-E176-4DE8-830B-5E99CF475F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0FE443-F620-4462-BE9D-26BC801408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B97D1A-C80E-460E-ABF2-F3AE4E808B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C8D629A-8A37-45A2-AF79-09424DA0F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2173EF-FF64-4EA7-8A5E-E5B05C7E4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D74DF9-4D76-441D-B426-72DBF85F1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AD8515-3D70-4907-B8DD-7A1F9735CF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E90E4B-E2A6-4EC3-B719-6A856D0D55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5dc1867a834b2c" /><Relationship Type="http://schemas.openxmlformats.org/officeDocument/2006/relationships/slideLayout" Target="/ppt/slideLayouts/slideLayout1.xml" Id="R735c708a73f649da" /><Relationship Type="http://schemas.openxmlformats.org/officeDocument/2006/relationships/slideLayout" Target="/ppt/slideLayouts/slideLayout2.xml" Id="Rd87a6b48f0454af1" /><Relationship Type="http://schemas.openxmlformats.org/officeDocument/2006/relationships/slideLayout" Target="/ppt/slideLayouts/slideLayout3.xml" Id="R108fa81cf1d74dfd" /><Relationship Type="http://schemas.openxmlformats.org/officeDocument/2006/relationships/slideLayout" Target="/ppt/slideLayouts/slideLayout4.xml" Id="Rfbb650ca0d0d4e52" /><Relationship Type="http://schemas.openxmlformats.org/officeDocument/2006/relationships/slideLayout" Target="/ppt/slideLayouts/slideLayout5.xml" Id="R9044f30b9bd24fcb" /><Relationship Type="http://schemas.openxmlformats.org/officeDocument/2006/relationships/slideLayout" Target="/ppt/slideLayouts/slideLayout6.xml" Id="Re53864edecb4469c" /><Relationship Type="http://schemas.openxmlformats.org/officeDocument/2006/relationships/slideLayout" Target="/ppt/slideLayouts/slideLayout7.xml" Id="R4c954f982aa64339" /><Relationship Type="http://schemas.openxmlformats.org/officeDocument/2006/relationships/slideLayout" Target="/ppt/slideLayouts/slideLayout8.xml" Id="R9444a9ffeae24db4" /><Relationship Type="http://schemas.openxmlformats.org/officeDocument/2006/relationships/slideLayout" Target="/ppt/slideLayouts/slideLayout9.xml" Id="R27eabc60712042ca" /><Relationship Type="http://schemas.openxmlformats.org/officeDocument/2006/relationships/slideLayout" Target="/ppt/slideLayouts/slideLayout10.xml" Id="Rd002a7b15e45409d" /><Relationship Type="http://schemas.openxmlformats.org/officeDocument/2006/relationships/slideLayout" Target="/ppt/slideLayouts/slideLayout11.xml" Id="R14b85a4b218340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8E747A-682F-43B4-A03C-8781EDB07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19713E-038E-475A-9E94-8BEDF00AC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5CB6BB-0A92-43BD-846C-8C2586B696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F16B5-CADE-4476-B854-C52EA8218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8D1084-1A44-4ACB-9F5B-63CC520040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c708a73f649da"/>
    <p:sldLayoutId xmlns:r="http://schemas.openxmlformats.org/officeDocument/2006/relationships" id="2147483650" r:id="Rd87a6b48f0454af1"/>
    <p:sldLayoutId xmlns:r="http://schemas.openxmlformats.org/officeDocument/2006/relationships" id="2147483651" r:id="R108fa81cf1d74dfd"/>
    <p:sldLayoutId xmlns:r="http://schemas.openxmlformats.org/officeDocument/2006/relationships" id="2147483652" r:id="Rfbb650ca0d0d4e52"/>
    <p:sldLayoutId xmlns:r="http://schemas.openxmlformats.org/officeDocument/2006/relationships" id="2147483653" r:id="R9044f30b9bd24fcb"/>
    <p:sldLayoutId xmlns:r="http://schemas.openxmlformats.org/officeDocument/2006/relationships" id="2147483654" r:id="Re53864edecb4469c"/>
    <p:sldLayoutId xmlns:r="http://schemas.openxmlformats.org/officeDocument/2006/relationships" id="2147483655" r:id="R4c954f982aa64339"/>
    <p:sldLayoutId xmlns:r="http://schemas.openxmlformats.org/officeDocument/2006/relationships" id="2147483656" r:id="R9444a9ffeae24db4"/>
    <p:sldLayoutId xmlns:r="http://schemas.openxmlformats.org/officeDocument/2006/relationships" id="2147483657" r:id="R27eabc60712042ca"/>
    <p:sldLayoutId xmlns:r="http://schemas.openxmlformats.org/officeDocument/2006/relationships" id="2147483658" r:id="Rd002a7b15e45409d"/>
    <p:sldLayoutId xmlns:r="http://schemas.openxmlformats.org/officeDocument/2006/relationships" id="2147483659" r:id="R14b85a4b2183408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f7ad5966740ea" /><Relationship Type="http://schemas.openxmlformats.org/officeDocument/2006/relationships/image" Target="/ppt/media/image.jpeg" Id="Rb2c20035d9504a6d" /><Relationship Type="http://schemas.openxmlformats.org/officeDocument/2006/relationships/notesSlide" Target="/ppt/notesSlides/notesSlide1.xml" Id="R9e8794e31c2746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290fcd912e415a" /><Relationship Type="http://schemas.openxmlformats.org/officeDocument/2006/relationships/image" Target="/ppt/media/image.jpeg" Id="Rd31c503e87aa4e85" /><Relationship Type="http://schemas.openxmlformats.org/officeDocument/2006/relationships/image" Target="/ppt/media/image.png" Id="R056977f4493b4201" /><Relationship Type="http://schemas.openxmlformats.org/officeDocument/2006/relationships/notesSlide" Target="/ppt/notesSlides/notesSlide2.xml" Id="R2ab5d17930804e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fcf6c39c474e60" /><Relationship Type="http://schemas.openxmlformats.org/officeDocument/2006/relationships/image" Target="/ppt/media/image.jpeg" Id="Re0cf8a4076ec4a7a" /><Relationship Type="http://schemas.openxmlformats.org/officeDocument/2006/relationships/image" Target="/ppt/media/image2.png" Id="Re422a8fe02a34a77" /><Relationship Type="http://schemas.openxmlformats.org/officeDocument/2006/relationships/notesSlide" Target="/ppt/notesSlides/notesSlide3.xml" Id="R0bf9a751343e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92a1e8c0b54efd" /><Relationship Type="http://schemas.openxmlformats.org/officeDocument/2006/relationships/image" Target="/ppt/media/image.jpeg" Id="Ra5031ee3fb5e4c47" /><Relationship Type="http://schemas.openxmlformats.org/officeDocument/2006/relationships/notesSlide" Target="/ppt/notesSlides/notesSlide4.xml" Id="Rb7c5f701d19c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5a71d77d424e29" /><Relationship Type="http://schemas.openxmlformats.org/officeDocument/2006/relationships/image" Target="/ppt/media/image.jpeg" Id="Rdfc5972c9a35409b" /><Relationship Type="http://schemas.openxmlformats.org/officeDocument/2006/relationships/notesSlide" Target="/ppt/notesSlides/notesSlide5.xml" Id="R9ca920909a2b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286f982c6b4be8" /><Relationship Type="http://schemas.openxmlformats.org/officeDocument/2006/relationships/image" Target="/ppt/media/image.jpeg" Id="R947ff7acc14441d2" /><Relationship Type="http://schemas.openxmlformats.org/officeDocument/2006/relationships/notesSlide" Target="/ppt/notesSlides/notesSlide6.xml" Id="Rf364716ba987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0b61d509bb4375" /><Relationship Type="http://schemas.openxmlformats.org/officeDocument/2006/relationships/image" Target="/ppt/media/image.jpeg" Id="R59f7d72531314966" /><Relationship Type="http://schemas.openxmlformats.org/officeDocument/2006/relationships/notesSlide" Target="/ppt/notesSlides/notesSlide7.xml" Id="Rcefc1795c0af46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8d9b58ba0b45c1" /><Relationship Type="http://schemas.openxmlformats.org/officeDocument/2006/relationships/image" Target="/ppt/media/image.jpeg" Id="R6c82014128f64315" /><Relationship Type="http://schemas.openxmlformats.org/officeDocument/2006/relationships/notesSlide" Target="/ppt/notesSlides/notesSlide8.xml" Id="R9a432c73c7df49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6f7a5c562a42d4" /><Relationship Type="http://schemas.openxmlformats.org/officeDocument/2006/relationships/image" Target="/ppt/media/image.jpeg" Id="Rafd73091eae34274" /><Relationship Type="http://schemas.openxmlformats.org/officeDocument/2006/relationships/notesSlide" Target="/ppt/notesSlides/notesSlide9.xml" Id="R5b32113be6e645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48E7FD4-5106-40A2-9E59-6D59377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c20035d9504a6d"/>
            <a:stretch>
              <a:fillRect l="0" t="-9259" r="0" b="-9259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0CAECAD-3FE5-4615-B992-CFC0C8DF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114860"/>
            <a:ext cx="13303790" cy="2706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66"/>
              </a:lnSpc>
              <a:buNone/>
            </a:pPr>
            <a:r>
              <a:rPr sz="20266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TriageXR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D3F2DDE-8452-4391-B516-B576E8D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424241"/>
            <a:ext cx="5689197" cy="612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5"/>
              </a:lnSpc>
              <a:buNone/>
            </a:pPr>
            <a:r>
              <a:rPr sz="4595">
                <a:solidFill>
                  <a:srgbClr val="FFFFFF">
                    <a:alpha val="36863"/>
                  </a:srgbClr>
                </a:solidFill>
                <a:latin typeface="Aileron"/>
                <a:ea typeface="Aileron"/>
                <a:cs typeface="Aileron"/>
              </a:rPr>
              <a:t>Spatial Hack AI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F892776-76FE-44A3-8DA2-006BF37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645042"/>
            <a:ext cx="3490028" cy="38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spcBef>
                <a:spcPct val="0"/>
              </a:spcBef>
              <a:buNone/>
            </a:pPr>
            <a:r>
              <a:rPr sz="23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Project By :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E2F214F-298B-492A-97A0-AF85B79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041546"/>
            <a:ext cx="3892723" cy="38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Shreeraj, Guan Yu, Weishuo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D42F07A-1D16-40E8-9452-8B2FB67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5456" y="9041546"/>
            <a:ext cx="1243844" cy="389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47808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F0BA55C-BE74-4447-BD05-CA800C5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1c503e87aa4e85"/>
            <a:stretch>
              <a:fillRect l="0" t="-9259" r="0" b="-9259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021BB5E-430B-4B83-BAFB-CE7572DC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0" y="784617"/>
            <a:ext cx="7493378" cy="3746956"/>
          </a:xfrm>
          <a:custGeom xmlns:a="http://schemas.openxmlformats.org/drawingml/2006/main">
            <a:rect l="l" t="t" r="r" b="b"/>
            <a:pathLst>
              <a:path w="1455025" h="727564">
                <a:moveTo>
                  <a:pt x="0" y="0"/>
                </a:moveTo>
                <a:lnTo>
                  <a:pt x="1455025" y="0"/>
                </a:lnTo>
                <a:lnTo>
                  <a:pt x="1455025" y="727564"/>
                </a:lnTo>
                <a:lnTo>
                  <a:pt x="0" y="7275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56977f4493b4201"/>
            <a:stretch>
              <a:fillRect l="0" t="-74991" r="0" b="-74991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2C67A6A-FB60-4FE1-A300-FFC1844F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521"/>
            <a:ext cx="6056426" cy="1887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7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Problem Statement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A985550-1ED7-4997-88AE-8AD66DB0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250930"/>
            <a:ext cx="6056426" cy="140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buNone/>
            </a:pPr>
            <a:r>
              <a:rPr sz="20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Brief 8: </a:t>
            </a:r>
          </a:p>
          <a:p xmlns:a="http://schemas.openxmlformats.org/drawingml/2006/main">
            <a:pPr algn="l">
              <a:lnSpc>
                <a:spcPts val="2800"/>
              </a:lnSpc>
              <a:buNone/>
            </a:pPr>
            <a:r>
              <a:rPr sz="200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How might we train first responders for a mass casualty incident with spatial computing and AI?</a:t>
            </a:r>
          </a:p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0B2F737-6352-4F4D-B8CB-212DE3D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8575" y="5535870"/>
            <a:ext cx="5789690" cy="422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546872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3ED70-2D54-423E-AAD9-046FCDFA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cf8a4076ec4a7a"/>
            <a:stretch>
              <a:fillRect l="0" t="-9259" r="0" b="-9259"/>
            </a:stretch>
          </a:blip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3BC8493-1286-4BFA-BD5B-F77626F5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THE TRAINING GAP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0978674B-397E-4E26-9D84-5F78649D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90625"/>
            <a:ext cx="1581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Live exercises are essential—but difficult to repeat</a:t>
            </a:r>
          </a:p>
        </p:txBody>
      </p:sp>
      <p:sp>
        <p:nvSpPr>
          <p:cNvPr id="5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336EE05C-9EA6-4CBC-BF0A-EE87279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2175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Mass-casualty readiness depends on decisions made under pressure: survey the scene, identify hazards, prioritise casualties, coordinate roles, and reassess.</a:t>
            </a:r>
          </a:p>
        </p:txBody>
      </p:sp>
      <p:sp>
        <p:nvSpPr>
          <p:cNvPr id="6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9BD7073E-EE86-4B1F-8F2D-C045FCCA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33925"/>
            <a:ext cx="9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1220AC22-A62B-4031-91E7-3DD5F28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COSTLY TO STAGE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83279CB5-CDE4-4FB3-AB96-17A7C9CD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6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Space, actors, equipment, instructors, and reset time.</a:t>
            </a:r>
          </a:p>
        </p:txBody>
      </p:sp>
      <p:sp>
        <p:nvSpPr>
          <p:cNvPr id="9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6069F98E-9BE9-4A2D-AF1E-9CAB24BB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9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390BDEA4-3169-4A61-9E0D-658AA9E8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67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HARD TO REPEAT</a:t>
            </a:r>
          </a:p>
        </p:txBody>
      </p:sp>
      <p:sp>
        <p:nvSpPr>
          <p:cNvPr id="11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3C45D78A-93B3-484C-94BC-C9932378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2937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6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Every live run varies, making deliberate practice difficult.</a:t>
            </a:r>
          </a:p>
        </p:txBody>
      </p:sp>
      <p:sp>
        <p:nvSpPr>
          <p:cNvPr id="12" name="problem-rule-2">
            <a:extLst xmlns:a="http://schemas.openxmlformats.org/drawingml/2006/main">
              <a:ext uri="{FF2B5EF4-FFF2-40B4-BE49-F238E27FC236}">
                <a16:creationId xmlns:a16="http://schemas.microsoft.com/office/drawing/2014/main" id="{EEA76A17-2DD6-4A97-88C7-4CB98D9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96175"/>
            <a:ext cx="9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0739D99A-70B0-4C31-81EF-3015F0D2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4485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DIFFICULT TO MEASURE</a:t>
            </a:r>
          </a:p>
        </p:txBody>
      </p:sp>
      <p:sp>
        <p:nvSpPr>
          <p:cNvPr id="14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60697824-1EF5-452A-AF92-D06939B8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8105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6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A final score rarely explains what the learner saw or missed.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2a8fe02a34a77"/>
          <a:srcRect xmlns:a="http://schemas.openxmlformats.org/drawingml/2006/main" l="0" t="23305" r="0" b="23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2857500"/>
            <a:ext cx="8096250" cy="5810250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16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406DC091-D974-42D6-85C1-3EBF69DB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953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2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LIVE TRAINING EXERCISE</a:t>
            </a:r>
          </a:p>
        </p:txBody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3AB4A639-A86C-4519-81C6-F63CD32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77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TRIAGEXR   •   SPATIAL HACK AI</a:t>
            </a:r>
          </a:p>
        </p:txBody>
      </p:sp>
      <p:sp>
        <p:nvSpPr>
          <p:cNvPr id="18" name="page-3">
            <a:extLst xmlns:a="http://schemas.openxmlformats.org/drawingml/2006/main">
              <a:ext uri="{FF2B5EF4-FFF2-40B4-BE49-F238E27FC236}">
                <a16:creationId xmlns:a16="http://schemas.microsoft.com/office/drawing/2014/main" id="{8D5B8779-DED0-4327-9672-2F3C7B9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77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6292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0799CB-F48C-425B-8DB3-9603372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031ee3fb5e4c47"/>
            <a:stretch>
              <a:fillRect l="0" t="-9259" r="0" b="-9259"/>
            </a:stretch>
          </a:blip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5E992E0-497C-4BEF-A369-EB9A4951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THE PRODUCT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6619B72E-91B6-4AFC-B89A-CB9366F0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90625"/>
            <a:ext cx="1581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TriageXR turns a safe room into a dynamic incident</a:t>
            </a:r>
          </a:p>
        </p:txBody>
      </p:sp>
      <p:sp>
        <p:nvSpPr>
          <p:cNvPr id="5" name="product-lead">
            <a:extLst xmlns:a="http://schemas.openxmlformats.org/drawingml/2006/main">
              <a:ext uri="{FF2B5EF4-FFF2-40B4-BE49-F238E27FC236}">
                <a16:creationId xmlns:a16="http://schemas.microsoft.com/office/drawing/2014/main" id="{45791A6D-F21C-4B1A-BCC2-36B0189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1257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9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A native Apple Vision Pro experience trains the decision loop—not physical medical procedures.</a:t>
            </a:r>
          </a:p>
        </p:txBody>
      </p:sp>
      <p:sp>
        <p:nvSpPr>
          <p:cNvPr id="6" name="flow-line">
            <a:extLst xmlns:a="http://schemas.openxmlformats.org/drawingml/2006/main">
              <a:ext uri="{FF2B5EF4-FFF2-40B4-BE49-F238E27FC236}">
                <a16:creationId xmlns:a16="http://schemas.microsoft.com/office/drawing/2014/main" id="{C6C8C642-4E34-48F8-80A2-D8FAF62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1347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dot-0">
            <a:extLst xmlns:a="http://schemas.openxmlformats.org/drawingml/2006/main">
              <a:ext uri="{FF2B5EF4-FFF2-40B4-BE49-F238E27FC236}">
                <a16:creationId xmlns:a16="http://schemas.microsoft.com/office/drawing/2014/main" id="{5122CE13-63F5-40D1-B2C6-8CFEA92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9525">
            <a:solidFill>
              <a:srgbClr val="37E6FF"/>
            </a:solidFill>
            <a:prstDash val="solid"/>
          </a:ln>
        </p:spPr>
      </p:sp>
      <p:sp>
        <p:nvSpPr>
          <p:cNvPr id="8" name="flow-num-0">
            <a:extLst xmlns:a="http://schemas.openxmlformats.org/drawingml/2006/main">
              <a:ext uri="{FF2B5EF4-FFF2-40B4-BE49-F238E27FC236}">
                <a16:creationId xmlns:a16="http://schemas.microsoft.com/office/drawing/2014/main" id="{446F85D6-D2CA-46A6-AB88-EF9A403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01</a:t>
            </a:r>
          </a:p>
        </p:txBody>
      </p:sp>
      <p:sp>
        <p:nvSpPr>
          <p:cNvPr id="9" name="flow-head-0">
            <a:extLst xmlns:a="http://schemas.openxmlformats.org/drawingml/2006/main">
              <a:ext uri="{FF2B5EF4-FFF2-40B4-BE49-F238E27FC236}">
                <a16:creationId xmlns:a16="http://schemas.microsoft.com/office/drawing/2014/main" id="{73D45A60-3564-49B6-A6CC-A405FD44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SURVEY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E5861D02-DC07-4B6C-821D-F3430216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Turn through four spatial sectors and identify the fuel hazard.</a:t>
            </a:r>
          </a:p>
        </p:txBody>
      </p:sp>
      <p:sp>
        <p:nvSpPr>
          <p:cNvPr id="11" name="flow-dot-1">
            <a:extLst xmlns:a="http://schemas.openxmlformats.org/drawingml/2006/main">
              <a:ext uri="{FF2B5EF4-FFF2-40B4-BE49-F238E27FC236}">
                <a16:creationId xmlns:a16="http://schemas.microsoft.com/office/drawing/2014/main" id="{3E084A42-D7CD-46AE-8955-F31C2B31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9525">
            <a:solidFill>
              <a:srgbClr val="37E6FF"/>
            </a:solidFill>
            <a:prstDash val="solid"/>
          </a:ln>
        </p:spPr>
      </p:sp>
      <p:sp>
        <p:nvSpPr>
          <p:cNvPr id="12" name="flow-num-1">
            <a:extLst xmlns:a="http://schemas.openxmlformats.org/drawingml/2006/main">
              <a:ext uri="{FF2B5EF4-FFF2-40B4-BE49-F238E27FC236}">
                <a16:creationId xmlns:a16="http://schemas.microsoft.com/office/drawing/2014/main" id="{35076DF0-CD23-4DE7-AFE4-822A0D3C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02</a:t>
            </a:r>
          </a:p>
        </p:txBody>
      </p:sp>
      <p:sp>
        <p:nvSpPr>
          <p:cNvPr id="1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68E71D6E-09EA-4102-BE06-601C8B53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ASSESS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43181B4-AC77-4CA8-B61D-15B533FC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95875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Reach to 3D targets; hand tracking verifies sustained checks.</a:t>
            </a:r>
          </a:p>
        </p:txBody>
      </p:sp>
      <p:sp>
        <p:nvSpPr>
          <p:cNvPr id="15" name="flow-dot-2">
            <a:extLst xmlns:a="http://schemas.openxmlformats.org/drawingml/2006/main">
              <a:ext uri="{FF2B5EF4-FFF2-40B4-BE49-F238E27FC236}">
                <a16:creationId xmlns:a16="http://schemas.microsoft.com/office/drawing/2014/main" id="{11027942-FF19-4127-B7D0-8E794B29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9525">
            <a:solidFill>
              <a:srgbClr val="37E6FF"/>
            </a:solidFill>
            <a:prstDash val="solid"/>
          </a:ln>
        </p:spPr>
      </p:sp>
      <p:sp>
        <p:nvSpPr>
          <p:cNvPr id="16" name="flow-num-2">
            <a:extLst xmlns:a="http://schemas.openxmlformats.org/drawingml/2006/main">
              <a:ext uri="{FF2B5EF4-FFF2-40B4-BE49-F238E27FC236}">
                <a16:creationId xmlns:a16="http://schemas.microsoft.com/office/drawing/2014/main" id="{88618601-C2E7-4B1A-8208-15565789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03</a:t>
            </a:r>
          </a:p>
        </p:txBody>
      </p:sp>
      <p:sp>
        <p:nvSpPr>
          <p:cNvPr id="17" name="flow-head-2">
            <a:extLst xmlns:a="http://schemas.openxmlformats.org/drawingml/2006/main">
              <a:ext uri="{FF2B5EF4-FFF2-40B4-BE49-F238E27FC236}">
                <a16:creationId xmlns:a16="http://schemas.microsoft.com/office/drawing/2014/main" id="{D7CE070F-FB80-41C1-9D01-A586E90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TRIAGE</a:t>
            </a:r>
          </a:p>
        </p:txBody>
      </p:sp>
      <p:sp>
        <p:nvSpPr>
          <p:cNvPr id="18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E3BD137-BE60-4E56-B424-3BC7C0D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Tag P1, P2, P3, or Expectant from revealed evidence.</a:t>
            </a:r>
          </a:p>
        </p:txBody>
      </p:sp>
      <p:sp>
        <p:nvSpPr>
          <p:cNvPr id="19" name="flow-dot-3">
            <a:extLst xmlns:a="http://schemas.openxmlformats.org/drawingml/2006/main">
              <a:ext uri="{FF2B5EF4-FFF2-40B4-BE49-F238E27FC236}">
                <a16:creationId xmlns:a16="http://schemas.microsoft.com/office/drawing/2014/main" id="{AE30174B-79FC-4542-8DD6-6A5DACB7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9525">
            <a:solidFill>
              <a:srgbClr val="37E6FF"/>
            </a:solidFill>
            <a:prstDash val="solid"/>
          </a:ln>
        </p:spPr>
      </p:sp>
      <p:sp>
        <p:nvSpPr>
          <p:cNvPr id="20" name="flow-num-3">
            <a:extLst xmlns:a="http://schemas.openxmlformats.org/drawingml/2006/main">
              <a:ext uri="{FF2B5EF4-FFF2-40B4-BE49-F238E27FC236}">
                <a16:creationId xmlns:a16="http://schemas.microsoft.com/office/drawing/2014/main" id="{01A9E997-44D1-4801-912D-DA1F0DAD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337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04</a:t>
            </a:r>
          </a:p>
        </p:txBody>
      </p:sp>
      <p:sp>
        <p:nvSpPr>
          <p:cNvPr id="21" name="flow-head-3">
            <a:extLst xmlns:a="http://schemas.openxmlformats.org/drawingml/2006/main">
              <a:ext uri="{FF2B5EF4-FFF2-40B4-BE49-F238E27FC236}">
                <a16:creationId xmlns:a16="http://schemas.microsoft.com/office/drawing/2014/main" id="{10C461AA-2007-4828-A2AA-0EA50EAE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REASSESS</a:t>
            </a:r>
          </a:p>
        </p:txBody>
      </p:sp>
      <p:sp>
        <p:nvSpPr>
          <p:cNvPr id="22" name="flow-body-3">
            <a:extLst xmlns:a="http://schemas.openxmlformats.org/drawingml/2006/main">
              <a:ext uri="{FF2B5EF4-FFF2-40B4-BE49-F238E27FC236}">
                <a16:creationId xmlns:a16="http://schemas.microsoft.com/office/drawing/2014/main" id="{35AC0DED-3D66-4AC1-AF7E-A0B3AD9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95875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Respond when casualty condition and the correct priority change.</a:t>
            </a:r>
          </a:p>
        </p:txBody>
      </p:sp>
      <p:sp>
        <p:nvSpPr>
          <p:cNvPr id="23" name="flow-dot-4">
            <a:extLst xmlns:a="http://schemas.openxmlformats.org/drawingml/2006/main">
              <a:ext uri="{FF2B5EF4-FFF2-40B4-BE49-F238E27FC236}">
                <a16:creationId xmlns:a16="http://schemas.microsoft.com/office/drawing/2014/main" id="{E680C474-88BC-4224-AB7C-93B3B4B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4533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E4B3"/>
          </a:solidFill>
          <a:ln xmlns:a="http://schemas.openxmlformats.org/drawingml/2006/main" w="9525">
            <a:solidFill>
              <a:srgbClr val="66E4B3"/>
            </a:solidFill>
            <a:prstDash val="solid"/>
          </a:ln>
        </p:spPr>
      </p:sp>
      <p:sp>
        <p:nvSpPr>
          <p:cNvPr id="24" name="flow-num-4">
            <a:extLst xmlns:a="http://schemas.openxmlformats.org/drawingml/2006/main">
              <a:ext uri="{FF2B5EF4-FFF2-40B4-BE49-F238E27FC236}">
                <a16:creationId xmlns:a16="http://schemas.microsoft.com/office/drawing/2014/main" id="{E1A4ABD1-9E2D-4BE3-A77D-E10CF913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33375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05</a:t>
            </a:r>
          </a:p>
        </p:txBody>
      </p:sp>
      <p:sp>
        <p:nvSpPr>
          <p:cNvPr id="25" name="flow-head-4">
            <a:extLst xmlns:a="http://schemas.openxmlformats.org/drawingml/2006/main">
              <a:ext uri="{FF2B5EF4-FFF2-40B4-BE49-F238E27FC236}">
                <a16:creationId xmlns:a16="http://schemas.microsoft.com/office/drawing/2014/main" id="{1F9CFF62-B02C-41D5-BEC4-B814288D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952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72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DEBRIEF</a:t>
            </a:r>
          </a:p>
        </p:txBody>
      </p:sp>
      <p:sp>
        <p:nvSpPr>
          <p:cNvPr id="2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4319799-65BB-4484-ADF4-F0DAC3E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5095875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Replay the cue, actor, consequence, and next best action.</a:t>
            </a:r>
          </a:p>
        </p:txBody>
      </p:sp>
      <p:sp>
        <p:nvSpPr>
          <p:cNvPr id="27" name="demo-band">
            <a:extLst xmlns:a="http://schemas.openxmlformats.org/drawingml/2006/main">
              <a:ext uri="{FF2B5EF4-FFF2-40B4-BE49-F238E27FC236}">
                <a16:creationId xmlns:a16="http://schemas.microsoft.com/office/drawing/2014/main" id="{01DA603B-30C3-4F80-80AE-2478D802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286625"/>
            <a:ext cx="15716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0A2235"/>
          </a:solidFill>
          <a:ln xmlns:a="http://schemas.openxmlformats.org/drawingml/2006/main" w="14288">
            <a:solidFill>
              <a:srgbClr val="1F4562"/>
            </a:solidFill>
            <a:prstDash val="solid"/>
          </a:ln>
        </p:spPr>
      </p:sp>
      <p:sp>
        <p:nvSpPr>
          <p:cNvPr id="28" name="demo-band-label">
            <a:extLst xmlns:a="http://schemas.openxmlformats.org/drawingml/2006/main">
              <a:ext uri="{FF2B5EF4-FFF2-40B4-BE49-F238E27FC236}">
                <a16:creationId xmlns:a16="http://schemas.microsoft.com/office/drawing/2014/main" id="{9BA0B72B-53A7-43F8-BC7D-6BEEE3F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533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42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DEMO MOMENT</a:t>
            </a:r>
          </a:p>
        </p:txBody>
      </p:sp>
      <p:sp>
        <p:nvSpPr>
          <p:cNvPr id="29" name="demo-band-copy">
            <a:extLst xmlns:a="http://schemas.openxmlformats.org/drawingml/2006/main">
              <a:ext uri="{FF2B5EF4-FFF2-40B4-BE49-F238E27FC236}">
                <a16:creationId xmlns:a16="http://schemas.microsoft.com/office/drawing/2014/main" id="{3F445389-1EA8-4ACB-833E-4DFCBCE7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924800"/>
            <a:ext cx="1457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1800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Jordan deteriorates on a meaningful clock while sustained simulated CPR coverage pauses the decline—forcing the team to notice, communicate, and act.</a:t>
            </a:r>
          </a:p>
        </p:txBody>
      </p:sp>
      <p:sp>
        <p:nvSpPr>
          <p:cNvPr id="30" name="footer-4">
            <a:extLst xmlns:a="http://schemas.openxmlformats.org/drawingml/2006/main">
              <a:ext uri="{FF2B5EF4-FFF2-40B4-BE49-F238E27FC236}">
                <a16:creationId xmlns:a16="http://schemas.microsoft.com/office/drawing/2014/main" id="{1082B5A7-BCCC-4B9C-B487-0F2FCCB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77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TRIAGEXR   •   SPATIAL HACK AI</a:t>
            </a:r>
          </a:p>
        </p:txBody>
      </p:sp>
      <p:sp>
        <p:nvSpPr>
          <p:cNvPr id="31" name="page-4">
            <a:extLst xmlns:a="http://schemas.openxmlformats.org/drawingml/2006/main">
              <a:ext uri="{FF2B5EF4-FFF2-40B4-BE49-F238E27FC236}">
                <a16:creationId xmlns:a16="http://schemas.microsoft.com/office/drawing/2014/main" id="{3885FF10-B5B0-4189-817F-CDB29D18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77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33661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3ED70-2D54-423E-AAD9-046FCDFA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c5972c9a35409b"/>
            <a:stretch>
              <a:fillRect l="0" t="-9259" r="0" b="-9259"/>
            </a:stretch>
          </a:blip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1FF48A-C376-40FE-B708-3641635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DYNAMIC SCENARIO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B88E3213-DF7D-4A41-AA71-4479631E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90625"/>
            <a:ext cx="1581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A casualty can change—and the learner must notice</a:t>
            </a:r>
          </a:p>
        </p:txBody>
      </p:sp>
      <p:sp>
        <p:nvSpPr>
          <p:cNvPr id="5" name="timeline-lead">
            <a:extLst xmlns:a="http://schemas.openxmlformats.org/drawingml/2006/main">
              <a:ext uri="{FF2B5EF4-FFF2-40B4-BE49-F238E27FC236}">
                <a16:creationId xmlns:a16="http://schemas.microsoft.com/office/drawing/2014/main" id="{092E0890-218C-4BF0-8B90-4847F6C3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1428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9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Jordan begins in untreated cardiac arrest. The evidence evolves with elapsed scenario time and sustained team response.</a:t>
            </a:r>
          </a:p>
        </p:txBody>
      </p:sp>
      <p:sp>
        <p:nvSpPr>
          <p:cNvPr id="6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60F08EC4-7B7E-4260-AD5D-80149E5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1428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EBB6727E-7E2D-45CC-8FCB-9DF14A0A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9525">
            <a:solidFill>
              <a:srgbClr val="37E6FF"/>
            </a:solidFill>
            <a:prstDash val="solid"/>
          </a:ln>
        </p:spPr>
      </p:sp>
      <p:sp>
        <p:nvSpPr>
          <p:cNvPr id="8" name="timeline-time-0">
            <a:extLst xmlns:a="http://schemas.openxmlformats.org/drawingml/2006/main">
              <a:ext uri="{FF2B5EF4-FFF2-40B4-BE49-F238E27FC236}">
                <a16:creationId xmlns:a16="http://schemas.microsoft.com/office/drawing/2014/main" id="{74FE65BC-871B-4FE0-B040-F2E2BE74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 MIN</a:t>
            </a:r>
          </a:p>
        </p:txBody>
      </p:sp>
      <p:sp>
        <p:nvSpPr>
          <p:cNvPr id="9" name="timeline-head-0">
            <a:extLst xmlns:a="http://schemas.openxmlformats.org/drawingml/2006/main">
              <a:ext uri="{FF2B5EF4-FFF2-40B4-BE49-F238E27FC236}">
                <a16:creationId xmlns:a16="http://schemas.microsoft.com/office/drawing/2014/main" id="{2EA4D8C4-3F5B-487A-B339-0C54F8ED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Recognise</a:t>
            </a:r>
          </a:p>
        </p:txBody>
      </p:sp>
      <p:sp>
        <p:nvSpPr>
          <p:cNvPr id="10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1D6C3127-3552-49B0-AD71-0A3FCF14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Unresponsive, not breathing normally, no palpable pulse.</a:t>
            </a:r>
          </a:p>
        </p:txBody>
      </p:sp>
      <p:sp>
        <p:nvSpPr>
          <p:cNvPr id="1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991F7A8D-8C67-4B34-BA72-F17E6FE6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9525">
            <a:solidFill>
              <a:srgbClr val="F2C14E"/>
            </a:solidFill>
            <a:prstDash val="solid"/>
          </a:ln>
        </p:spPr>
      </p:sp>
      <p:sp>
        <p:nvSpPr>
          <p:cNvPr id="12" name="timeline-time-1">
            <a:extLst xmlns:a="http://schemas.openxmlformats.org/drawingml/2006/main">
              <a:ext uri="{FF2B5EF4-FFF2-40B4-BE49-F238E27FC236}">
                <a16:creationId xmlns:a16="http://schemas.microsoft.com/office/drawing/2014/main" id="{F42C570B-F864-44C0-A7AB-9797733B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C14E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F2C14E"/>
                </a:solidFill>
                <a:latin typeface="Aileron Bold"/>
                <a:ea typeface="Aileron Bold"/>
                <a:cs typeface="Aileron Bold"/>
              </a:rPr>
              <a:t>6 MIN</a:t>
            </a:r>
          </a:p>
        </p:txBody>
      </p:sp>
      <p:sp>
        <p:nvSpPr>
          <p:cNvPr id="13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31D742B3-A73E-41FF-A5AE-9F9EA96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292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Risk escalates</a:t>
            </a:r>
          </a:p>
        </p:txBody>
      </p:sp>
      <p:sp>
        <p:nvSpPr>
          <p:cNvPr id="14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903D5CFC-6EA3-45C2-B191-4464AC8D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531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Visible deterioration makes reassessment urgent.</a:t>
            </a:r>
          </a:p>
        </p:txBody>
      </p:sp>
      <p:sp>
        <p:nvSpPr>
          <p:cNvPr id="1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8471112C-AC76-40DA-AA9F-56681388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38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6" name="timeline-time-2">
            <a:extLst xmlns:a="http://schemas.openxmlformats.org/drawingml/2006/main">
              <a:ext uri="{FF2B5EF4-FFF2-40B4-BE49-F238E27FC236}">
                <a16:creationId xmlns:a16="http://schemas.microsoft.com/office/drawing/2014/main" id="{4C7856DF-EDE8-4613-A575-16F12C39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57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6B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FF6B6B"/>
                </a:solidFill>
                <a:latin typeface="Aileron Bold"/>
                <a:ea typeface="Aileron Bold"/>
                <a:cs typeface="Aileron Bold"/>
              </a:rPr>
              <a:t>10 MIN</a:t>
            </a:r>
          </a:p>
        </p:txBody>
      </p:sp>
      <p:sp>
        <p:nvSpPr>
          <p:cNvPr id="17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792D2418-FBC5-402F-ADB0-D577F21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292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Outcome changes</a:t>
            </a:r>
          </a:p>
        </p:txBody>
      </p:sp>
      <p:sp>
        <p:nvSpPr>
          <p:cNvPr id="18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391FC4CB-E566-4FA6-9DC2-6FCFDB23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953125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Without effective team response, the simulation reaches a fatal outcome.</a:t>
            </a:r>
          </a:p>
        </p:txBody>
      </p:sp>
      <p:sp>
        <p:nvSpPr>
          <p:cNvPr id="1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225D0348-CDA5-4FEF-896B-883CD88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4838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E4B3"/>
          </a:solidFill>
          <a:ln xmlns:a="http://schemas.openxmlformats.org/drawingml/2006/main" w="9525">
            <a:solidFill>
              <a:srgbClr val="66E4B3"/>
            </a:solidFill>
            <a:prstDash val="solid"/>
          </a:ln>
        </p:spPr>
      </p:sp>
      <p:sp>
        <p:nvSpPr>
          <p:cNvPr id="20" name="timeline-time-3">
            <a:extLst xmlns:a="http://schemas.openxmlformats.org/drawingml/2006/main">
              <a:ext uri="{FF2B5EF4-FFF2-40B4-BE49-F238E27FC236}">
                <a16:creationId xmlns:a16="http://schemas.microsoft.com/office/drawing/2014/main" id="{F54B3E26-2B06-4380-87DA-5A4809A4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857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E4B3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66E4B3"/>
                </a:solidFill>
                <a:latin typeface="Aileron Bold"/>
                <a:ea typeface="Aileron Bold"/>
                <a:cs typeface="Aileron Bold"/>
              </a:rPr>
              <a:t>ACTION</a:t>
            </a:r>
          </a:p>
        </p:txBody>
      </p:sp>
      <p:sp>
        <p:nvSpPr>
          <p:cNvPr id="21" name="timeline-head-3">
            <a:extLst xmlns:a="http://schemas.openxmlformats.org/drawingml/2006/main">
              <a:ext uri="{FF2B5EF4-FFF2-40B4-BE49-F238E27FC236}">
                <a16:creationId xmlns:a16="http://schemas.microsoft.com/office/drawing/2014/main" id="{C910A25D-F62F-401B-8C83-8AA8F861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4292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Team intervention</a:t>
            </a:r>
          </a:p>
        </p:txBody>
      </p:sp>
      <p:sp>
        <p:nvSpPr>
          <p:cNvPr id="22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836CA390-0CAB-4115-909B-6BC4540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953125"/>
            <a:ext cx="2428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Sustained simulated CPR coverage pauses deterioration and becomes replay evidence.</a:t>
            </a:r>
          </a:p>
        </p:txBody>
      </p:sp>
      <p:sp>
        <p:nvSpPr>
          <p:cNvPr id="23" name="timeline-callout">
            <a:extLst xmlns:a="http://schemas.openxmlformats.org/drawingml/2006/main">
              <a:ext uri="{FF2B5EF4-FFF2-40B4-BE49-F238E27FC236}">
                <a16:creationId xmlns:a16="http://schemas.microsoft.com/office/drawing/2014/main" id="{3C07557A-AE1B-42E6-BDD3-6C55224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58125"/>
            <a:ext cx="15716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1A2A"/>
          </a:solidFill>
          <a:ln xmlns:a="http://schemas.openxmlformats.org/drawingml/2006/main" w="14288">
            <a:solidFill>
              <a:srgbClr val="1F4562"/>
            </a:solidFill>
            <a:prstDash val="solid"/>
          </a:ln>
        </p:spPr>
      </p:sp>
      <p:sp>
        <p:nvSpPr>
          <p:cNvPr id="24" name="timeline-callout-copy">
            <a:extLst xmlns:a="http://schemas.openxmlformats.org/drawingml/2006/main">
              <a:ext uri="{FF2B5EF4-FFF2-40B4-BE49-F238E27FC236}">
                <a16:creationId xmlns:a16="http://schemas.microsoft.com/office/drawing/2014/main" id="{75652098-D713-46BE-B3E7-272DF82D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58150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5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The learning objective is not memorising a label. It is seeing new evidence, updating the shared picture, and changing the decision.</a:t>
            </a:r>
          </a:p>
        </p:txBody>
      </p:sp>
      <p:sp>
        <p:nvSpPr>
          <p:cNvPr id="25" name="footer-5">
            <a:extLst xmlns:a="http://schemas.openxmlformats.org/drawingml/2006/main">
              <a:ext uri="{FF2B5EF4-FFF2-40B4-BE49-F238E27FC236}">
                <a16:creationId xmlns:a16="http://schemas.microsoft.com/office/drawing/2014/main" id="{B2D85634-24A9-46FB-AB22-793EF33A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77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TRIAGEXR   •   SPATIAL HACK AI</a:t>
            </a:r>
          </a:p>
        </p:txBody>
      </p:sp>
      <p:sp>
        <p:nvSpPr>
          <p:cNvPr id="26" name="page-5">
            <a:extLst xmlns:a="http://schemas.openxmlformats.org/drawingml/2006/main">
              <a:ext uri="{FF2B5EF4-FFF2-40B4-BE49-F238E27FC236}">
                <a16:creationId xmlns:a16="http://schemas.microsoft.com/office/drawing/2014/main" id="{27B811C9-3B3E-4DD4-9097-1FC7AEB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77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62923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0799CB-F48C-425B-8DB3-9603372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7ff7acc14441d2"/>
            <a:stretch>
              <a:fillRect l="0" t="-9259" r="0" b="-9259"/>
            </a:stretch>
          </a:blip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5DD36BB-0EC2-4A2C-B054-AAB7806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TECHNICAL DESIGN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0D52E114-49F5-4057-B171-F5A2F9F5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90625"/>
            <a:ext cx="1581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Spatial, shared, and explainable by design</a:t>
            </a:r>
          </a:p>
        </p:txBody>
      </p:sp>
      <p:sp>
        <p:nvSpPr>
          <p:cNvPr id="5" name="architecture-lead">
            <a:extLst xmlns:a="http://schemas.openxmlformats.org/drawingml/2006/main">
              <a:ext uri="{FF2B5EF4-FFF2-40B4-BE49-F238E27FC236}">
                <a16:creationId xmlns:a16="http://schemas.microsoft.com/office/drawing/2014/main" id="{854D9570-A5AE-4BC1-90D4-DF4AE080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9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Three connected systems turn immersive interaction into reliable training evidence.</a:t>
            </a:r>
          </a:p>
        </p:txBody>
      </p:sp>
      <p:sp>
        <p:nvSpPr>
          <p:cNvPr id="6" name="architecture-spine">
            <a:extLst xmlns:a="http://schemas.openxmlformats.org/drawingml/2006/main">
              <a:ext uri="{FF2B5EF4-FFF2-40B4-BE49-F238E27FC236}">
                <a16:creationId xmlns:a16="http://schemas.microsoft.com/office/drawing/2014/main" id="{D00922D6-99E3-4F8C-8B8B-A0E366FE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24400"/>
            <a:ext cx="11287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box-0">
            <a:extLst xmlns:a="http://schemas.openxmlformats.org/drawingml/2006/main">
              <a:ext uri="{FF2B5EF4-FFF2-40B4-BE49-F238E27FC236}">
                <a16:creationId xmlns:a16="http://schemas.microsoft.com/office/drawing/2014/main" id="{1A6977E8-5E2B-44CD-8A56-FDCC9E8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4857750" cy="409575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F4562"/>
            </a:solidFill>
            <a:prstDash val="solid"/>
          </a:ln>
        </p:spPr>
      </p:sp>
      <p:sp>
        <p:nvSpPr>
          <p:cNvPr id="8" name="architecture-num-0">
            <a:extLst xmlns:a="http://schemas.openxmlformats.org/drawingml/2006/main">
              <a:ext uri="{FF2B5EF4-FFF2-40B4-BE49-F238E27FC236}">
                <a16:creationId xmlns:a16="http://schemas.microsoft.com/office/drawing/2014/main" id="{9A2908C9-F2E5-4284-90F9-BBF2234E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62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01</a:t>
            </a:r>
          </a:p>
        </p:txBody>
      </p:sp>
      <p:sp>
        <p:nvSpPr>
          <p:cNvPr id="9" name="architecture-head-0">
            <a:extLst xmlns:a="http://schemas.openxmlformats.org/drawingml/2006/main">
              <a:ext uri="{FF2B5EF4-FFF2-40B4-BE49-F238E27FC236}">
                <a16:creationId xmlns:a16="http://schemas.microsoft.com/office/drawing/2014/main" id="{CDC8C4B9-B525-4CD8-A319-3FB14133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SPATIAL INPUT</a:t>
            </a:r>
          </a:p>
        </p:txBody>
      </p:sp>
      <p:sp>
        <p:nvSpPr>
          <p:cNvPr id="10" name="architecture-sub-0">
            <a:extLst xmlns:a="http://schemas.openxmlformats.org/drawingml/2006/main">
              <a:ext uri="{FF2B5EF4-FFF2-40B4-BE49-F238E27FC236}">
                <a16:creationId xmlns:a16="http://schemas.microsoft.com/office/drawing/2014/main" id="{7FB80F14-C5AF-4A7F-9830-2B424E96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95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RealityKit scene + ARKit hand tracking</a:t>
            </a:r>
          </a:p>
        </p:txBody>
      </p:sp>
      <p:sp>
        <p:nvSpPr>
          <p:cNvPr id="11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E545C638-5144-423E-B4AF-34A550E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5312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Sector beacons and casualty-specific 3D targets verify what the trainee physically inspected.</a:t>
            </a:r>
          </a:p>
        </p:txBody>
      </p:sp>
      <p:sp>
        <p:nvSpPr>
          <p:cNvPr id="12" name="architecture-box-1">
            <a:extLst xmlns:a="http://schemas.openxmlformats.org/drawingml/2006/main">
              <a:ext uri="{FF2B5EF4-FFF2-40B4-BE49-F238E27FC236}">
                <a16:creationId xmlns:a16="http://schemas.microsoft.com/office/drawing/2014/main" id="{F333479D-82DF-439E-9BFC-70F76E7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76625"/>
            <a:ext cx="4857750" cy="409575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F4562"/>
            </a:solidFill>
            <a:prstDash val="solid"/>
          </a:ln>
        </p:spPr>
      </p:sp>
      <p:sp>
        <p:nvSpPr>
          <p:cNvPr id="13" name="architecture-num-1">
            <a:extLst xmlns:a="http://schemas.openxmlformats.org/drawingml/2006/main">
              <a:ext uri="{FF2B5EF4-FFF2-40B4-BE49-F238E27FC236}">
                <a16:creationId xmlns:a16="http://schemas.microsoft.com/office/drawing/2014/main" id="{59A0C6F6-DBC5-463C-83F3-EC0FA195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62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02</a:t>
            </a:r>
          </a:p>
        </p:txBody>
      </p:sp>
      <p:sp>
        <p:nvSpPr>
          <p:cNvPr id="14" name="architecture-head-1">
            <a:extLst xmlns:a="http://schemas.openxmlformats.org/drawingml/2006/main">
              <a:ext uri="{FF2B5EF4-FFF2-40B4-BE49-F238E27FC236}">
                <a16:creationId xmlns:a16="http://schemas.microsoft.com/office/drawing/2014/main" id="{8F8454C3-6A7B-421C-8348-AD763AB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76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AUTHORITATIVE STATE</a:t>
            </a:r>
          </a:p>
        </p:txBody>
      </p:sp>
      <p:sp>
        <p:nvSpPr>
          <p:cNvPr id="15" name="architecture-sub-1">
            <a:extLst xmlns:a="http://schemas.openxmlformats.org/drawingml/2006/main">
              <a:ext uri="{FF2B5EF4-FFF2-40B4-BE49-F238E27FC236}">
                <a16:creationId xmlns:a16="http://schemas.microsoft.com/office/drawing/2014/main" id="{DA2D268D-B976-4B3B-B2CE-056254FC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95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Deterministic incident engine + SharePlay</a:t>
            </a:r>
          </a:p>
        </p:txBody>
      </p:sp>
      <p:sp>
        <p:nvSpPr>
          <p:cNvPr id="16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B5731219-73FB-437B-82D3-0D91699B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5312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One host owns the clock and scene state; role permissions and targeted commands keep teams aligned.</a:t>
            </a:r>
          </a:p>
        </p:txBody>
      </p:sp>
      <p:sp>
        <p:nvSpPr>
          <p:cNvPr id="17" name="architecture-box-2">
            <a:extLst xmlns:a="http://schemas.openxmlformats.org/drawingml/2006/main">
              <a:ext uri="{FF2B5EF4-FFF2-40B4-BE49-F238E27FC236}">
                <a16:creationId xmlns:a16="http://schemas.microsoft.com/office/drawing/2014/main" id="{6BC6575B-90C7-467C-A046-DE45A1B9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476625"/>
            <a:ext cx="4857750" cy="409575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F4562"/>
            </a:solidFill>
            <a:prstDash val="solid"/>
          </a:ln>
        </p:spPr>
      </p:sp>
      <p:sp>
        <p:nvSpPr>
          <p:cNvPr id="18" name="architecture-num-2">
            <a:extLst xmlns:a="http://schemas.openxmlformats.org/drawingml/2006/main">
              <a:ext uri="{FF2B5EF4-FFF2-40B4-BE49-F238E27FC236}">
                <a16:creationId xmlns:a16="http://schemas.microsoft.com/office/drawing/2014/main" id="{87A6C1F7-4076-415A-B621-9BFEF198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62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31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03</a:t>
            </a:r>
          </a:p>
        </p:txBody>
      </p:sp>
      <p:sp>
        <p:nvSpPr>
          <p:cNvPr id="19" name="architecture-head-2">
            <a:extLst xmlns:a="http://schemas.openxmlformats.org/drawingml/2006/main">
              <a:ext uri="{FF2B5EF4-FFF2-40B4-BE49-F238E27FC236}">
                <a16:creationId xmlns:a16="http://schemas.microsoft.com/office/drawing/2014/main" id="{33291B8E-6B52-463D-848A-B81D5F6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476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GROUNDED REVIEW</a:t>
            </a:r>
          </a:p>
        </p:txBody>
      </p:sp>
      <p:sp>
        <p:nvSpPr>
          <p:cNvPr id="20" name="architecture-sub-2">
            <a:extLst xmlns:a="http://schemas.openxmlformats.org/drawingml/2006/main">
              <a:ext uri="{FF2B5EF4-FFF2-40B4-BE49-F238E27FC236}">
                <a16:creationId xmlns:a16="http://schemas.microsoft.com/office/drawing/2014/main" id="{B54647F8-68EF-4F80-A77A-1628E0D4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95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6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Evidence replay + secure AI relay</a:t>
            </a:r>
          </a:p>
        </p:txBody>
      </p:sp>
      <p:sp>
        <p:nvSpPr>
          <p:cNvPr id="21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FF1553CF-5E53-4F34-B616-D0BE131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95312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75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The score stays deterministic. AI coaching must cite exact replay event IDs or it is rejected.</a:t>
            </a:r>
          </a:p>
        </p:txBody>
      </p:sp>
      <p:sp>
        <p:nvSpPr>
          <p:cNvPr id="22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072E1659-4444-426F-9097-4810D4F3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01000"/>
            <a:ext cx="1571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8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Works offline with deterministic local coaching; the optional AI relay adds grounded narrative without becoming a single point of failure.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E1EF9DE9-95C5-45AD-A3AD-B2A167DB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77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TRIAGEXR   •   SPATIAL HACK AI</a:t>
            </a:r>
          </a:p>
        </p:txBody>
      </p:sp>
      <p:sp>
        <p:nvSpPr>
          <p:cNvPr id="24" name="page-6">
            <a:extLst xmlns:a="http://schemas.openxmlformats.org/drawingml/2006/main">
              <a:ext uri="{FF2B5EF4-FFF2-40B4-BE49-F238E27FC236}">
                <a16:creationId xmlns:a16="http://schemas.microsoft.com/office/drawing/2014/main" id="{A7C82741-817B-427A-8EAE-D20D14FD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77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33661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D53ED70-2D54-423E-AAD9-046FCDFA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f7d72531314966"/>
            <a:stretch>
              <a:fillRect l="0" t="-9259" r="0" b="-9259"/>
            </a:stretch>
          </a:blip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427AC98-A5B8-42E1-8EC7-85BDEE1A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WHY TRIAGEXR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F1C775EE-0F04-4E10-8124-520975C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90625"/>
            <a:ext cx="1581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We measure how teams think—not just what they clicked</a:t>
            </a:r>
          </a:p>
        </p:txBody>
      </p:sp>
      <p:sp>
        <p:nvSpPr>
          <p:cNvPr id="5" name="diff-rule-0">
            <a:extLst xmlns:a="http://schemas.openxmlformats.org/drawingml/2006/main">
              <a:ext uri="{FF2B5EF4-FFF2-40B4-BE49-F238E27FC236}">
                <a16:creationId xmlns:a16="http://schemas.microsoft.com/office/drawing/2014/main" id="{53E04680-0F03-40C1-8BE6-E4C8952E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95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ff-head-0">
            <a:extLst xmlns:a="http://schemas.openxmlformats.org/drawingml/2006/main">
              <a:ext uri="{FF2B5EF4-FFF2-40B4-BE49-F238E27FC236}">
                <a16:creationId xmlns:a16="http://schemas.microsoft.com/office/drawing/2014/main" id="{45876AAF-2F3F-4AE8-BB37-72627C8B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VERIFIED ACTION</a:t>
            </a:r>
          </a:p>
        </p:txBody>
      </p:sp>
      <p:sp>
        <p:nvSpPr>
          <p:cNvPr id="7" name="diff-body-0">
            <a:extLst xmlns:a="http://schemas.openxmlformats.org/drawingml/2006/main">
              <a:ext uri="{FF2B5EF4-FFF2-40B4-BE49-F238E27FC236}">
                <a16:creationId xmlns:a16="http://schemas.microsoft.com/office/drawing/2014/main" id="{629D7C26-9354-4F72-BB33-2E5D6B1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1875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Findings unlock only after a sustained pose at the correct spatial target.</a:t>
            </a:r>
          </a:p>
        </p:txBody>
      </p:sp>
      <p:sp>
        <p:nvSpPr>
          <p:cNvPr id="8" name="diff-rule-1">
            <a:extLst xmlns:a="http://schemas.openxmlformats.org/drawingml/2006/main">
              <a:ext uri="{FF2B5EF4-FFF2-40B4-BE49-F238E27FC236}">
                <a16:creationId xmlns:a16="http://schemas.microsoft.com/office/drawing/2014/main" id="{7A6FB25B-FA84-49AA-8F5F-18B0E7B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95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ff-head-1">
            <a:extLst xmlns:a="http://schemas.openxmlformats.org/drawingml/2006/main">
              <a:ext uri="{FF2B5EF4-FFF2-40B4-BE49-F238E27FC236}">
                <a16:creationId xmlns:a16="http://schemas.microsoft.com/office/drawing/2014/main" id="{99B9F5F9-5D82-4489-B70D-BC2BC7A2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99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TEAM COORDINATION</a:t>
            </a:r>
          </a:p>
        </p:txBody>
      </p:sp>
      <p:sp>
        <p:nvSpPr>
          <p:cNvPr id="10" name="diff-body-1">
            <a:extLst xmlns:a="http://schemas.openxmlformats.org/drawingml/2006/main">
              <a:ext uri="{FF2B5EF4-FFF2-40B4-BE49-F238E27FC236}">
                <a16:creationId xmlns:a16="http://schemas.microsoft.com/office/drawing/2014/main" id="{FD40043C-8622-4305-B7CD-BD81B614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0045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1875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Incident commander, triage, airway, and instructor roles have explicit responsibilities and permissions.</a:t>
            </a:r>
          </a:p>
        </p:txBody>
      </p:sp>
      <p:sp>
        <p:nvSpPr>
          <p:cNvPr id="11" name="diff-rule-2">
            <a:extLst xmlns:a="http://schemas.openxmlformats.org/drawingml/2006/main">
              <a:ext uri="{FF2B5EF4-FFF2-40B4-BE49-F238E27FC236}">
                <a16:creationId xmlns:a16="http://schemas.microsoft.com/office/drawing/2014/main" id="{33CFC349-D7CA-4CDB-BDCC-FB3F16D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95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ff-head-2">
            <a:extLst xmlns:a="http://schemas.openxmlformats.org/drawingml/2006/main">
              <a:ext uri="{FF2B5EF4-FFF2-40B4-BE49-F238E27FC236}">
                <a16:creationId xmlns:a16="http://schemas.microsoft.com/office/drawing/2014/main" id="{1B4EDCD2-DB6E-4827-A5EE-E47F51C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531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CAUSAL REPLAY</a:t>
            </a:r>
          </a:p>
        </p:txBody>
      </p:sp>
      <p:sp>
        <p:nvSpPr>
          <p:cNvPr id="13" name="diff-body-2">
            <a:extLst xmlns:a="http://schemas.openxmlformats.org/drawingml/2006/main">
              <a:ext uri="{FF2B5EF4-FFF2-40B4-BE49-F238E27FC236}">
                <a16:creationId xmlns:a16="http://schemas.microsoft.com/office/drawing/2014/main" id="{9B50A8EF-A963-47F7-B6F4-ADEFC57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74370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1875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Each material action preserves the visible cue, responsible role, consequence, and reconstructed scene.</a:t>
            </a:r>
          </a:p>
        </p:txBody>
      </p:sp>
      <p:sp>
        <p:nvSpPr>
          <p:cNvPr id="14" name="diff-rule-3">
            <a:extLst xmlns:a="http://schemas.openxmlformats.org/drawingml/2006/main">
              <a:ext uri="{FF2B5EF4-FFF2-40B4-BE49-F238E27FC236}">
                <a16:creationId xmlns:a16="http://schemas.microsoft.com/office/drawing/2014/main" id="{719FCE0F-2857-4A04-B65B-C532D7B0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191250"/>
            <a:ext cx="95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ff-head-3">
            <a:extLst xmlns:a="http://schemas.openxmlformats.org/drawingml/2006/main">
              <a:ext uri="{FF2B5EF4-FFF2-40B4-BE49-F238E27FC236}">
                <a16:creationId xmlns:a16="http://schemas.microsoft.com/office/drawing/2014/main" id="{25F3DAA8-D35F-4B29-A147-6D8D1186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531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9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SAFE AI</a:t>
            </a:r>
          </a:p>
        </p:txBody>
      </p:sp>
      <p:sp>
        <p:nvSpPr>
          <p:cNvPr id="16" name="diff-body-3">
            <a:extLst xmlns:a="http://schemas.openxmlformats.org/drawingml/2006/main">
              <a:ext uri="{FF2B5EF4-FFF2-40B4-BE49-F238E27FC236}">
                <a16:creationId xmlns:a16="http://schemas.microsoft.com/office/drawing/2014/main" id="{D9827EC5-FAD0-43CC-9310-D2D8B98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74370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1875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Coaching is grounded in verified event IDs and cannot alter the deterministic 100-point score.</a:t>
            </a:r>
          </a:p>
        </p:txBody>
      </p:sp>
      <p:sp>
        <p:nvSpPr>
          <p:cNvPr id="17" name="footer-7">
            <a:extLst xmlns:a="http://schemas.openxmlformats.org/drawingml/2006/main">
              <a:ext uri="{FF2B5EF4-FFF2-40B4-BE49-F238E27FC236}">
                <a16:creationId xmlns:a16="http://schemas.microsoft.com/office/drawing/2014/main" id="{16CF0B3D-CFF3-4E05-A1FA-3D8C75E2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77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TRIAGEXR   •   SPATIAL HACK AI</a:t>
            </a:r>
          </a:p>
        </p:txBody>
      </p:sp>
      <p:sp>
        <p:nvSpPr>
          <p:cNvPr id="18" name="page-7">
            <a:extLst xmlns:a="http://schemas.openxmlformats.org/drawingml/2006/main">
              <a:ext uri="{FF2B5EF4-FFF2-40B4-BE49-F238E27FC236}">
                <a16:creationId xmlns:a16="http://schemas.microsoft.com/office/drawing/2014/main" id="{56B88918-440D-458D-8759-DCB83EE6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77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62923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0799CB-F48C-425B-8DB3-9603372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82014128f64315"/>
            <a:stretch>
              <a:fillRect l="0" t="-9259" r="0" b="-9259"/>
            </a:stretch>
          </a:blipFill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FD1CC8B-1DF6-4708-865A-9A2396D5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WORKING PROTOTYPE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2CAFD52E-A176-4730-8342-8038737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90625"/>
            <a:ext cx="1581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42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The complete training loop already runs end to end</a:t>
            </a:r>
          </a:p>
        </p:txBody>
      </p:sp>
      <p:sp>
        <p:nvSpPr>
          <p:cNvPr id="5" name="proof-lead">
            <a:extLst xmlns:a="http://schemas.openxmlformats.org/drawingml/2006/main">
              <a:ext uri="{FF2B5EF4-FFF2-40B4-BE49-F238E27FC236}">
                <a16:creationId xmlns:a16="http://schemas.microsoft.com/office/drawing/2014/main" id="{640AB2F8-8E95-4F6F-A11A-4F1ABAD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1285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95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Built natively for visionOS, with deterministic tests and a stage-ready simulator path.</a:t>
            </a:r>
          </a:p>
        </p:txBody>
      </p:sp>
      <p:sp>
        <p:nvSpPr>
          <p:cNvPr id="6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61FA5BC3-9270-48F7-B27E-02839FE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75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4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C7013109-2B74-4DA7-8765-75D9D522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SPATIAL SECTORS</a:t>
            </a:r>
          </a:p>
        </p:txBody>
      </p:sp>
      <p:sp>
        <p:nvSpPr>
          <p:cNvPr id="8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DE0552E5-D627-443D-8E82-3BCD954C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0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must be inspected before the survey is complete</a:t>
            </a:r>
          </a:p>
        </p:txBody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F76EEEBC-ACB4-4DA5-AA49-3E16EE6D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33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75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3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8E8FD882-DFB4-4C39-9D29-93AB99E5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62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CASUALTIES</a:t>
            </a:r>
          </a:p>
        </p:txBody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5034506E-70F8-4735-BAB5-2238DE0A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863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0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with distinct findings and changing evidence</a:t>
            </a:r>
          </a:p>
        </p:txBody>
      </p:sp>
      <p:sp>
        <p:nvSpPr>
          <p:cNvPr id="12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DE82015-29D7-4D51-99BD-F6209273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75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5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F98DD82D-86B1-4872-A854-B8317824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62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SCORE DOMAINS</a:t>
            </a:r>
          </a:p>
        </p:txBody>
      </p:sp>
      <p:sp>
        <p:nvSpPr>
          <p:cNvPr id="14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218D328E-0E1F-483F-A84D-BCD13BAE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863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0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Safety, Assessment, Triage, Treatment, Communication</a:t>
            </a:r>
          </a:p>
        </p:txBody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D116D6F0-8BC7-4684-8DC5-393208C4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33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64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100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A5AE4E16-60CF-4D19-A469-49FD7E4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762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1575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POINTS</a:t>
            </a:r>
          </a:p>
        </p:txBody>
      </p:sp>
      <p:sp>
        <p:nvSpPr>
          <p:cNvPr id="17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17DB774D-73D7-4B92-A722-FCAA8CFE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2863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500" b="0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deterministic and separated from AI-written coaching</a:t>
            </a:r>
          </a:p>
        </p:txBody>
      </p:sp>
      <p:sp>
        <p:nvSpPr>
          <p:cNvPr id="18" name="proof-band">
            <a:extLst xmlns:a="http://schemas.openxmlformats.org/drawingml/2006/main">
              <a:ext uri="{FF2B5EF4-FFF2-40B4-BE49-F238E27FC236}">
                <a16:creationId xmlns:a16="http://schemas.microsoft.com/office/drawing/2014/main" id="{0C4AF0F1-EE81-4FAC-B796-F049377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0"/>
            <a:ext cx="15716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A2235"/>
          </a:solidFill>
          <a:ln xmlns:a="http://schemas.openxmlformats.org/drawingml/2006/main" w="14288">
            <a:solidFill>
              <a:srgbClr val="1F4562"/>
            </a:solidFill>
            <a:prstDash val="solid"/>
          </a:ln>
        </p:spPr>
      </p:sp>
      <p:sp>
        <p:nvSpPr>
          <p:cNvPr id="19" name="proof-band-title">
            <a:extLst xmlns:a="http://schemas.openxmlformats.org/drawingml/2006/main">
              <a:ext uri="{FF2B5EF4-FFF2-40B4-BE49-F238E27FC236}">
                <a16:creationId xmlns:a16="http://schemas.microsoft.com/office/drawing/2014/main" id="{E47DAC1E-CEDE-4BD7-A57B-A58FD19E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628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80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DEMO IN 75 SECONDS</a:t>
            </a:r>
          </a:p>
        </p:txBody>
      </p:sp>
      <p:sp>
        <p:nvSpPr>
          <p:cNvPr id="20" name="proof-band-copy">
            <a:extLst xmlns:a="http://schemas.openxmlformats.org/drawingml/2006/main">
              <a:ext uri="{FF2B5EF4-FFF2-40B4-BE49-F238E27FC236}">
                <a16:creationId xmlns:a16="http://schemas.microsoft.com/office/drawing/2014/main" id="{17231643-E20F-48A6-BC60-D70F5B33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34300"/>
            <a:ext cx="1447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ileron"/>
                <a:ea typeface="Aileron"/>
                <a:cs typeface="Aileron"/>
              </a:defRPr>
            </a:pPr>
            <a:r>
              <a:rPr sz="1875" b="0">
                <a:solidFill>
                  <a:srgbClr val="FFFFFF"/>
                </a:solidFill>
                <a:latin typeface="Aileron"/>
                <a:ea typeface="Aileron"/>
                <a:cs typeface="Aileron"/>
              </a:rPr>
              <a:t>Survey → assess → coordinate → watch Jordan change → finish → replay the exact decision trail. Demo 8× compresses scenario deterioration while keeping the responder hold interaction in real time.</a:t>
            </a:r>
          </a:p>
        </p:txBody>
      </p:sp>
      <p:sp>
        <p:nvSpPr>
          <p:cNvPr id="21" name="footer-8">
            <a:extLst xmlns:a="http://schemas.openxmlformats.org/drawingml/2006/main">
              <a:ext uri="{FF2B5EF4-FFF2-40B4-BE49-F238E27FC236}">
                <a16:creationId xmlns:a16="http://schemas.microsoft.com/office/drawing/2014/main" id="{AB8A3173-93DB-4552-BB1F-7652C1C3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77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TRIAGEXR   •   SPATIAL HACK AI</a:t>
            </a:r>
          </a:p>
        </p:txBody>
      </p:sp>
      <p:sp>
        <p:nvSpPr>
          <p:cNvPr id="22" name="page-8">
            <a:extLst xmlns:a="http://schemas.openxmlformats.org/drawingml/2006/main">
              <a:ext uri="{FF2B5EF4-FFF2-40B4-BE49-F238E27FC236}">
                <a16:creationId xmlns:a16="http://schemas.microsoft.com/office/drawing/2014/main" id="{5687277F-66FC-4DF4-ADB0-65486B3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6774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0BE"/>
                </a:solidFill>
                <a:latin typeface="Aileron"/>
                <a:ea typeface="Aileron"/>
                <a:cs typeface="Aileron"/>
              </a:defRPr>
            </a:pPr>
            <a:r>
              <a:rPr sz="1050" b="1">
                <a:solidFill>
                  <a:srgbClr val="A7B0BE"/>
                </a:solidFill>
                <a:latin typeface="Aileron"/>
                <a:ea typeface="Aileron"/>
                <a:cs typeface="Aile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3661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9A65EC0-90A2-43B3-9F56-C146874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fd73091eae34274"/>
            <a:stretch>
              <a:fillRect l="0" t="-9259" r="0" b="-9259"/>
            </a:stretch>
          </a:blipFill>
        </p:spPr>
      </p:sp>
      <p:sp>
        <p:nvSpPr>
          <p:cNvPr id="3" name="closing-headline">
            <a:extLst xmlns:a="http://schemas.openxmlformats.org/drawingml/2006/main">
              <a:ext uri="{FF2B5EF4-FFF2-40B4-BE49-F238E27FC236}">
                <a16:creationId xmlns:a16="http://schemas.microsoft.com/office/drawing/2014/main" id="{323F185E-90A2-42C4-9329-8FD43056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1352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84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Ready to train?</a:t>
            </a:r>
          </a:p>
        </p:txBody>
      </p:sp>
      <p:sp>
        <p:nvSpPr>
          <p:cNvPr id="4" name="closing-ask">
            <a:extLst xmlns:a="http://schemas.openxmlformats.org/drawingml/2006/main">
              <a:ext uri="{FF2B5EF4-FFF2-40B4-BE49-F238E27FC236}">
                <a16:creationId xmlns:a16="http://schemas.microsoft.com/office/drawing/2014/main" id="{A331009F-BA33-4011-BAA0-C20CEC4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0"/>
            <a:ext cx="1247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defRPr>
            </a:pPr>
            <a:r>
              <a:rPr sz="2100" b="1">
                <a:solidFill>
                  <a:srgbClr val="FFFFFF"/>
                </a:solidFill>
                <a:latin typeface="Aileron Bold"/>
                <a:ea typeface="Aileron Bold"/>
                <a:cs typeface="Aileron Bold"/>
              </a:rPr>
              <a:t>Help us validate the scenario, decision logic, and after-action review with first-responder instructors.</a:t>
            </a:r>
          </a:p>
        </p:txBody>
      </p:sp>
      <p:sp>
        <p:nvSpPr>
          <p:cNvPr id="5" name="closing-team">
            <a:extLst xmlns:a="http://schemas.openxmlformats.org/drawingml/2006/main">
              <a:ext uri="{FF2B5EF4-FFF2-40B4-BE49-F238E27FC236}">
                <a16:creationId xmlns:a16="http://schemas.microsoft.com/office/drawing/2014/main" id="{5D1F3B0E-89C3-4273-B2E7-F6B47F0E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0963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defRPr>
            </a:pPr>
            <a:r>
              <a:rPr sz="1350" b="1">
                <a:solidFill>
                  <a:srgbClr val="37E6FF"/>
                </a:solidFill>
                <a:latin typeface="Aileron Bold"/>
                <a:ea typeface="Aileron Bold"/>
                <a:cs typeface="Aileron Bold"/>
              </a:rPr>
              <a:t>WEISHUO   •   GUAN   •   SHREERAJ</a:t>
            </a:r>
          </a:p>
        </p:txBody>
      </p:sp>
    </p:spTree>
    <p:extLst>
      <p:ext uri="{BB962C8B-B14F-4D97-AF65-F5344CB8AC3E}">
        <p14:creationId xmlns:p14="http://schemas.microsoft.com/office/powerpoint/2010/main" val="162267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2026-08-10T04:33:07.3890000Z</dcterms:created>
  <dcterms:modified xsi:type="dcterms:W3CDTF">2026-08-10T04:33:07.3890000Z</dcterms:modified>
</coreProperties>
</file>